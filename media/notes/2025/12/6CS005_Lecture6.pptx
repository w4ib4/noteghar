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6858000" cx="12192000"/>
  <p:notesSz cx="6797675" cy="9926625"/>
  <p:embeddedFontLst>
    <p:embeddedFont>
      <p:font typeface="Helvetica Neue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>
        <p15:guide id="1" orient="horz" pos="3126">
          <p15:clr>
            <a:srgbClr val="A4A3A4"/>
          </p15:clr>
        </p15:guide>
        <p15:guide id="2" pos="2098">
          <p15:clr>
            <a:srgbClr val="A4A3A4"/>
          </p15:clr>
        </p15:guide>
        <p15:guide id="3" pos="2140">
          <p15:clr>
            <a:srgbClr val="A4A3A4"/>
          </p15:clr>
        </p15:guide>
      </p15:notesGuideLst>
    </p:ext>
    <p:ext uri="GoogleSlidesCustomDataVersion2">
      <go:slidesCustomData xmlns:go="http://customooxmlschemas.google.com/" r:id="rId48" roundtripDataSignature="AMtx7mjILXqEujao/9UvFZgabg7JzVjS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126" orient="horz"/>
        <p:guide pos="2098"/>
        <p:guide pos="214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HelveticaNeue-regular.fntdata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font" Target="fonts/HelveticaNeue-italic.fntdata"/><Relationship Id="rId23" Type="http://schemas.openxmlformats.org/officeDocument/2006/relationships/slide" Target="slides/slide18.xml"/><Relationship Id="rId45" Type="http://schemas.openxmlformats.org/officeDocument/2006/relationships/font" Target="fonts/HelveticaNeue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customschemas.google.com/relationships/presentationmetadata" Target="metadata"/><Relationship Id="rId25" Type="http://schemas.openxmlformats.org/officeDocument/2006/relationships/slide" Target="slides/slide20.xml"/><Relationship Id="rId47" Type="http://schemas.openxmlformats.org/officeDocument/2006/relationships/font" Target="fonts/HelveticaNeue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0"/>
            <a:ext cx="2946145" cy="49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49911" y="0"/>
            <a:ext cx="2946144" cy="49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9428164"/>
            <a:ext cx="2946145" cy="496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49911" y="9428164"/>
            <a:ext cx="2946144" cy="496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" name="Google Shape;62;p1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2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5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6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9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DONE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DONE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12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13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14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p15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6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16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7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p17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8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p18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9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19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0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20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1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21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2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p22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3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" name="Google Shape;304;p23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4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p24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5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" name="Google Shape;317;p25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6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p26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7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" name="Google Shape;330;p27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8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36" name="Google Shape;336;p28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7" name="Google Shape;337;p28:notes"/>
          <p:cNvSpPr txBox="1"/>
          <p:nvPr>
            <p:ph idx="12" type="sldNum"/>
          </p:nvPr>
        </p:nvSpPr>
        <p:spPr>
          <a:xfrm>
            <a:off x="3849911" y="9428164"/>
            <a:ext cx="2946144" cy="496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9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p29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0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0" name="Google Shape;350;p30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1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0" name="Google Shape;360;p31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2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p32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3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3" name="Google Shape;373;p33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4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9" name="Google Shape;379;p34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5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5" name="Google Shape;385;p35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6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p36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7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7" name="Google Shape;397;p37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8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3" name="Google Shape;403;p38:notes"/>
          <p:cNvSpPr/>
          <p:nvPr>
            <p:ph idx="2" type="sldImg"/>
          </p:nvPr>
        </p:nvSpPr>
        <p:spPr>
          <a:xfrm>
            <a:off x="90488" y="744538"/>
            <a:ext cx="6616700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0"/>
          <p:cNvSpPr txBox="1"/>
          <p:nvPr>
            <p:ph type="ctrTitle"/>
          </p:nvPr>
        </p:nvSpPr>
        <p:spPr>
          <a:xfrm>
            <a:off x="527381" y="2512922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C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0"/>
          <p:cNvSpPr txBox="1"/>
          <p:nvPr>
            <p:ph idx="1" type="subTitle"/>
          </p:nvPr>
        </p:nvSpPr>
        <p:spPr>
          <a:xfrm>
            <a:off x="527381" y="4268688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Rockwell"/>
              <a:buNone/>
              <a:defRPr>
                <a:solidFill>
                  <a:srgbClr val="FFC000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1"/>
          <p:cNvSpPr txBox="1"/>
          <p:nvPr>
            <p:ph type="title"/>
          </p:nvPr>
        </p:nvSpPr>
        <p:spPr>
          <a:xfrm>
            <a:off x="431817" y="980728"/>
            <a:ext cx="9984664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2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rgbClr val="FFC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2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3"/>
          <p:cNvSpPr txBox="1"/>
          <p:nvPr>
            <p:ph type="title"/>
          </p:nvPr>
        </p:nvSpPr>
        <p:spPr>
          <a:xfrm>
            <a:off x="963084" y="4406902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3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4"/>
          <p:cNvSpPr txBox="1"/>
          <p:nvPr>
            <p:ph type="title"/>
          </p:nvPr>
        </p:nvSpPr>
        <p:spPr>
          <a:xfrm>
            <a:off x="431817" y="1940981"/>
            <a:ext cx="1123315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4"/>
          <p:cNvSpPr txBox="1"/>
          <p:nvPr>
            <p:ph idx="1" type="body"/>
          </p:nvPr>
        </p:nvSpPr>
        <p:spPr>
          <a:xfrm>
            <a:off x="431800" y="2852248"/>
            <a:ext cx="5513917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9pPr>
          </a:lstStyle>
          <a:p/>
        </p:txBody>
      </p:sp>
      <p:sp>
        <p:nvSpPr>
          <p:cNvPr id="26" name="Google Shape;26;p44"/>
          <p:cNvSpPr txBox="1"/>
          <p:nvPr>
            <p:ph idx="2" type="body"/>
          </p:nvPr>
        </p:nvSpPr>
        <p:spPr>
          <a:xfrm>
            <a:off x="6148934" y="2852248"/>
            <a:ext cx="5516033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5"/>
          <p:cNvSpPr txBox="1"/>
          <p:nvPr>
            <p:ph type="title"/>
          </p:nvPr>
        </p:nvSpPr>
        <p:spPr>
          <a:xfrm>
            <a:off x="609600" y="1513913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5"/>
          <p:cNvSpPr txBox="1"/>
          <p:nvPr>
            <p:ph idx="1" type="body"/>
          </p:nvPr>
        </p:nvSpPr>
        <p:spPr>
          <a:xfrm>
            <a:off x="609600" y="2774390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30" name="Google Shape;30;p45"/>
          <p:cNvSpPr txBox="1"/>
          <p:nvPr>
            <p:ph idx="2" type="body"/>
          </p:nvPr>
        </p:nvSpPr>
        <p:spPr>
          <a:xfrm>
            <a:off x="609600" y="3414149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9pPr>
          </a:lstStyle>
          <a:p/>
        </p:txBody>
      </p:sp>
      <p:sp>
        <p:nvSpPr>
          <p:cNvPr id="31" name="Google Shape;31;p45"/>
          <p:cNvSpPr txBox="1"/>
          <p:nvPr>
            <p:ph idx="3" type="body"/>
          </p:nvPr>
        </p:nvSpPr>
        <p:spPr>
          <a:xfrm>
            <a:off x="6193378" y="2774390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32" name="Google Shape;32;p45"/>
          <p:cNvSpPr txBox="1"/>
          <p:nvPr>
            <p:ph idx="4" type="body"/>
          </p:nvPr>
        </p:nvSpPr>
        <p:spPr>
          <a:xfrm>
            <a:off x="6193378" y="3414149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7"/>
          <p:cNvSpPr txBox="1"/>
          <p:nvPr>
            <p:ph type="title"/>
          </p:nvPr>
        </p:nvSpPr>
        <p:spPr>
          <a:xfrm>
            <a:off x="609617" y="1594874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7"/>
          <p:cNvSpPr txBox="1"/>
          <p:nvPr>
            <p:ph idx="1" type="body"/>
          </p:nvPr>
        </p:nvSpPr>
        <p:spPr>
          <a:xfrm>
            <a:off x="4766733" y="1594882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/>
            </a:lvl9pPr>
          </a:lstStyle>
          <a:p/>
        </p:txBody>
      </p:sp>
      <p:sp>
        <p:nvSpPr>
          <p:cNvPr id="37" name="Google Shape;37;p47"/>
          <p:cNvSpPr txBox="1"/>
          <p:nvPr>
            <p:ph idx="2" type="body"/>
          </p:nvPr>
        </p:nvSpPr>
        <p:spPr>
          <a:xfrm>
            <a:off x="609617" y="2756932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8"/>
          <p:cNvSpPr txBox="1"/>
          <p:nvPr>
            <p:ph type="title"/>
          </p:nvPr>
        </p:nvSpPr>
        <p:spPr>
          <a:xfrm>
            <a:off x="2389717" y="4800602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8"/>
          <p:cNvSpPr/>
          <p:nvPr>
            <p:ph idx="2" type="pic"/>
          </p:nvPr>
        </p:nvSpPr>
        <p:spPr>
          <a:xfrm>
            <a:off x="2389717" y="1604803"/>
            <a:ext cx="7315200" cy="3122777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48"/>
          <p:cNvSpPr txBox="1"/>
          <p:nvPr>
            <p:ph idx="1" type="body"/>
          </p:nvPr>
        </p:nvSpPr>
        <p:spPr>
          <a:xfrm>
            <a:off x="2389717" y="5367346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9"/>
          <p:cNvSpPr txBox="1"/>
          <p:nvPr>
            <p:ph type="title"/>
          </p:nvPr>
        </p:nvSpPr>
        <p:spPr>
          <a:xfrm>
            <a:off x="431817" y="980728"/>
            <a:ext cx="9984664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9"/>
          <p:cNvSpPr txBox="1"/>
          <p:nvPr>
            <p:ph idx="1" type="body"/>
          </p:nvPr>
        </p:nvSpPr>
        <p:spPr>
          <a:xfrm rot="5400000">
            <a:off x="3528113" y="-1467494"/>
            <a:ext cx="5040560" cy="11233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0"/>
          <p:cNvSpPr txBox="1"/>
          <p:nvPr>
            <p:ph type="title"/>
          </p:nvPr>
        </p:nvSpPr>
        <p:spPr>
          <a:xfrm rot="5400000">
            <a:off x="7530323" y="2318547"/>
            <a:ext cx="5462588" cy="2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0"/>
          <p:cNvSpPr txBox="1"/>
          <p:nvPr>
            <p:ph idx="1" type="body"/>
          </p:nvPr>
        </p:nvSpPr>
        <p:spPr>
          <a:xfrm rot="5400000">
            <a:off x="1812131" y="-389728"/>
            <a:ext cx="5462588" cy="8223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1"/>
          <p:cNvSpPr txBox="1"/>
          <p:nvPr>
            <p:ph type="title"/>
          </p:nvPr>
        </p:nvSpPr>
        <p:spPr>
          <a:xfrm>
            <a:off x="838200" y="460126"/>
            <a:ext cx="10515600" cy="6371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700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1"/>
          <p:cNvSpPr txBox="1"/>
          <p:nvPr>
            <p:ph idx="1" type="body"/>
          </p:nvPr>
        </p:nvSpPr>
        <p:spPr>
          <a:xfrm>
            <a:off x="838200" y="1644163"/>
            <a:ext cx="10515600" cy="4532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3359EC"/>
              </a:buClr>
              <a:buSzPts val="3200"/>
              <a:buFont typeface="Times New Roman"/>
              <a:buChar char="•"/>
              <a:defRPr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3359EC"/>
              </a:buClr>
              <a:buSzPts val="2800"/>
              <a:buFont typeface="Times New Roman"/>
              <a:buChar char="–"/>
              <a:defRPr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3359EC"/>
              </a:buClr>
              <a:buSzPts val="2400"/>
              <a:buFont typeface="Times New Roman"/>
              <a:buChar char="•"/>
              <a:defRPr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3359EC"/>
              </a:buClr>
              <a:buSzPts val="2000"/>
              <a:buFont typeface="Times New Roman"/>
              <a:buChar char="–"/>
              <a:defRPr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3359EC"/>
              </a:buClr>
              <a:buSzPts val="2000"/>
              <a:buFont typeface="Times New Roman"/>
              <a:buChar char="»"/>
              <a:defRPr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1" name="Google Shape;51;p51"/>
          <p:cNvSpPr txBox="1"/>
          <p:nvPr>
            <p:ph idx="11" type="ftr"/>
          </p:nvPr>
        </p:nvSpPr>
        <p:spPr>
          <a:xfrm>
            <a:off x="3742594" y="6356351"/>
            <a:ext cx="47068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51"/>
          <p:cNvSpPr txBox="1"/>
          <p:nvPr>
            <p:ph idx="12" type="sldNum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3" name="Google Shape;53;p51"/>
          <p:cNvSpPr txBox="1"/>
          <p:nvPr>
            <p:ph idx="2" type="subTitle"/>
          </p:nvPr>
        </p:nvSpPr>
        <p:spPr>
          <a:xfrm>
            <a:off x="838200" y="1107373"/>
            <a:ext cx="10515600" cy="3692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1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Times New Roman"/>
              <a:buNone/>
              <a:defRPr sz="1350"/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/>
            </a:lvl9pPr>
          </a:lstStyle>
          <a:p/>
        </p:txBody>
      </p:sp>
      <p:pic>
        <p:nvPicPr>
          <p:cNvPr descr="Level Access Logo" id="54" name="Google Shape;54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05537" y="6302169"/>
            <a:ext cx="1048265" cy="41930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1"/>
          <p:cNvSpPr/>
          <p:nvPr/>
        </p:nvSpPr>
        <p:spPr>
          <a:xfrm>
            <a:off x="718038" y="1474177"/>
            <a:ext cx="10755927" cy="45719"/>
          </a:xfrm>
          <a:prstGeom prst="rect">
            <a:avLst/>
          </a:prstGeom>
          <a:solidFill>
            <a:srgbClr val="5DD3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 type="tx">
  <p:cSld name="TITLE_AND_BOD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2"/>
          <p:cNvSpPr txBox="1"/>
          <p:nvPr>
            <p:ph type="title"/>
          </p:nvPr>
        </p:nvSpPr>
        <p:spPr>
          <a:xfrm>
            <a:off x="431817" y="980728"/>
            <a:ext cx="9984664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2"/>
          <p:cNvSpPr txBox="1"/>
          <p:nvPr>
            <p:ph idx="1" type="body"/>
          </p:nvPr>
        </p:nvSpPr>
        <p:spPr>
          <a:xfrm>
            <a:off x="431817" y="1628801"/>
            <a:ext cx="11233151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9" name="Google Shape;59;p52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/>
          <p:nvPr>
            <p:ph type="title"/>
          </p:nvPr>
        </p:nvSpPr>
        <p:spPr>
          <a:xfrm>
            <a:off x="431817" y="980728"/>
            <a:ext cx="9984664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1" name="Google Shape;11;p39"/>
          <p:cNvSpPr txBox="1"/>
          <p:nvPr>
            <p:ph idx="1" type="body"/>
          </p:nvPr>
        </p:nvSpPr>
        <p:spPr>
          <a:xfrm>
            <a:off x="431817" y="1628801"/>
            <a:ext cx="11233151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19.png"/><Relationship Id="rId5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png"/><Relationship Id="rId4" Type="http://schemas.openxmlformats.org/officeDocument/2006/relationships/image" Target="../media/image2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/>
          <p:nvPr>
            <p:ph type="ctrTitle"/>
          </p:nvPr>
        </p:nvSpPr>
        <p:spPr>
          <a:xfrm>
            <a:off x="527380" y="2512922"/>
            <a:ext cx="11473275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4400"/>
              <a:t>6CS005 High Performance Computing</a:t>
            </a:r>
            <a:endParaRPr sz="4400"/>
          </a:p>
        </p:txBody>
      </p:sp>
      <p:sp>
        <p:nvSpPr>
          <p:cNvPr id="65" name="Google Shape;65;p1"/>
          <p:cNvSpPr txBox="1"/>
          <p:nvPr>
            <p:ph idx="1" type="subTitle"/>
          </p:nvPr>
        </p:nvSpPr>
        <p:spPr>
          <a:xfrm>
            <a:off x="527381" y="4268688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Rockwell"/>
              <a:buNone/>
            </a:pPr>
            <a:r>
              <a:rPr lang="en-GB"/>
              <a:t>Lecture 6 OpenMP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/>
          <p:nvPr>
            <p:ph type="title"/>
          </p:nvPr>
        </p:nvSpPr>
        <p:spPr>
          <a:xfrm>
            <a:off x="431817" y="980728"/>
            <a:ext cx="9984664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OpenMP: Motivation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1" name="Google Shape;7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1464" y="1844824"/>
            <a:ext cx="8594518" cy="4464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OpenMP- What is it?</a:t>
            </a:r>
            <a:endParaRPr/>
          </a:p>
        </p:txBody>
      </p:sp>
      <p:sp>
        <p:nvSpPr>
          <p:cNvPr id="77" name="Google Shape;77;p3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884" lvl="0" marL="342884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-GB"/>
              <a:t>OpenMP stands for Open Multi-Processing.</a:t>
            </a:r>
            <a:endParaRPr/>
          </a:p>
          <a:p>
            <a:pPr indent="-342884" lvl="0" marL="342884" rtl="0" algn="just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Times New Roman"/>
              <a:buChar char="•"/>
            </a:pPr>
            <a:r>
              <a:rPr lang="en-GB">
                <a:solidFill>
                  <a:srgbClr val="FF0000"/>
                </a:solidFill>
              </a:rPr>
              <a:t>OpenMP is not a new programming language</a:t>
            </a:r>
            <a:r>
              <a:rPr lang="en-GB"/>
              <a:t>.</a:t>
            </a:r>
            <a:endParaRPr/>
          </a:p>
          <a:p>
            <a:pPr indent="-342884" lvl="0" marL="342884" rtl="0" algn="just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-GB"/>
              <a:t>OpenMP is an Application Program Interface(API) for</a:t>
            </a:r>
            <a:endParaRPr/>
          </a:p>
          <a:p>
            <a:pPr indent="-285736" lvl="1" marL="742913" rtl="0" algn="just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–"/>
            </a:pPr>
            <a:r>
              <a:rPr b="1" lang="en-GB"/>
              <a:t>Explicit</a:t>
            </a:r>
            <a:r>
              <a:rPr lang="en-GB"/>
              <a:t> directives to indicate parallel region in the code</a:t>
            </a:r>
            <a:endParaRPr/>
          </a:p>
          <a:p>
            <a:pPr indent="-285736" lvl="1" marL="742913" rtl="0" algn="just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–"/>
            </a:pPr>
            <a:r>
              <a:rPr b="1" lang="en-GB"/>
              <a:t>Portable</a:t>
            </a:r>
            <a:r>
              <a:rPr lang="en-GB"/>
              <a:t> across different architecture and platform</a:t>
            </a:r>
            <a:endParaRPr/>
          </a:p>
          <a:p>
            <a:pPr indent="-285736" lvl="1" marL="742913" rtl="0" algn="just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–"/>
            </a:pPr>
            <a:r>
              <a:rPr b="1" lang="en-GB"/>
              <a:t>Shared-memory</a:t>
            </a:r>
            <a:r>
              <a:rPr lang="en-GB"/>
              <a:t> parallel programming</a:t>
            </a:r>
            <a:endParaRPr/>
          </a:p>
          <a:p>
            <a:pPr indent="-285736" lvl="1" marL="742913" rtl="0" algn="just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–"/>
            </a:pPr>
            <a:r>
              <a:rPr lang="en-GB"/>
              <a:t>In c/C++ and Fortran</a:t>
            </a:r>
            <a:endParaRPr/>
          </a:p>
          <a:p>
            <a:pPr indent="-342884" lvl="0" marL="342884" rtl="0" algn="just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-GB"/>
              <a:t>OpenMP consists of</a:t>
            </a:r>
            <a:endParaRPr/>
          </a:p>
          <a:p>
            <a:pPr indent="-285736" lvl="1" marL="742913" rtl="0" algn="just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–"/>
            </a:pPr>
            <a:r>
              <a:rPr lang="en-GB"/>
              <a:t>Compiler directives: Start with </a:t>
            </a: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#pragma omp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-285736" lvl="1" marL="742913" rtl="0" algn="just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–"/>
            </a:pPr>
            <a:r>
              <a:rPr lang="en-GB"/>
              <a:t>Runtime calls: Function like </a:t>
            </a: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omp_get_thread_num()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omp_set_num_threads(</a:t>
            </a:r>
            <a:r>
              <a:rPr b="1" lang="en-GB"/>
              <a:t>)</a:t>
            </a:r>
            <a:endParaRPr/>
          </a:p>
          <a:p>
            <a:pPr indent="-285736" lvl="1" marL="742913" rtl="0" algn="just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–"/>
            </a:pPr>
            <a:r>
              <a:rPr lang="en-GB"/>
              <a:t>Environment variable: </a:t>
            </a:r>
            <a:r>
              <a:rPr b="1" lang="en-GB">
                <a:latin typeface="Consolas"/>
                <a:ea typeface="Consolas"/>
                <a:cs typeface="Consolas"/>
                <a:sym typeface="Consolas"/>
              </a:rPr>
              <a:t>export OMP_NUM_THREADS=4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OpenMP- What is it?</a:t>
            </a:r>
            <a:endParaRPr/>
          </a:p>
        </p:txBody>
      </p:sp>
      <p:sp>
        <p:nvSpPr>
          <p:cNvPr id="83" name="Google Shape;83;p4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884" lvl="0" marL="342884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GB"/>
              <a:t>The OpenMP Application Programming Interface (API) was developed to enable portable </a:t>
            </a:r>
            <a:r>
              <a:rPr b="1" lang="en-GB"/>
              <a:t>shared memory parallel programming. </a:t>
            </a:r>
            <a:endParaRPr/>
          </a:p>
          <a:p>
            <a:pPr indent="-342884" lvl="0" marL="342884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GB"/>
              <a:t>An </a:t>
            </a:r>
            <a:r>
              <a:rPr b="1" lang="en-GB"/>
              <a:t>OpenMP directive </a:t>
            </a:r>
            <a:r>
              <a:rPr lang="en-GB"/>
              <a:t>is an instruction in a special format that is only understood by </a:t>
            </a:r>
            <a:r>
              <a:rPr b="1" lang="en-GB"/>
              <a:t>OpenMP-aware compilers</a:t>
            </a:r>
            <a:r>
              <a:rPr lang="en-GB"/>
              <a:t>.</a:t>
            </a:r>
            <a:endParaRPr/>
          </a:p>
          <a:p>
            <a:pPr indent="-342884" lvl="0" marL="342884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GB"/>
              <a:t>OpenMP offers a </a:t>
            </a:r>
            <a:r>
              <a:rPr b="1" lang="en-GB"/>
              <a:t>shared memory programming model</a:t>
            </a:r>
            <a:r>
              <a:rPr lang="en-GB"/>
              <a:t>, where most variables are visible to all </a:t>
            </a:r>
            <a:r>
              <a:rPr b="1" lang="en-GB"/>
              <a:t>threads by default</a:t>
            </a:r>
            <a:r>
              <a:rPr lang="en-GB"/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OpenMP Goals</a:t>
            </a:r>
            <a:endParaRPr/>
          </a:p>
        </p:txBody>
      </p:sp>
      <p:sp>
        <p:nvSpPr>
          <p:cNvPr id="89" name="Google Shape;89;p5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884" lvl="0" marL="342884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GB"/>
              <a:t>OpenMP is designed to be a portable, scalable model that gives programmers a </a:t>
            </a:r>
            <a:r>
              <a:rPr b="1" lang="en-GB"/>
              <a:t>simple and flexible interface </a:t>
            </a:r>
            <a:r>
              <a:rPr lang="en-GB"/>
              <a:t>for </a:t>
            </a:r>
            <a:r>
              <a:rPr b="1" lang="en-GB"/>
              <a:t>developing parallel applications</a:t>
            </a:r>
            <a:r>
              <a:rPr lang="en-GB"/>
              <a:t>.</a:t>
            </a:r>
            <a:endParaRPr/>
          </a:p>
          <a:p>
            <a:pPr indent="-342884" lvl="0" marL="342884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GB"/>
              <a:t>The API is designed to permit incremental approach to parallelizing an existing code, possibly in successive steps.</a:t>
            </a:r>
            <a:endParaRPr/>
          </a:p>
          <a:p>
            <a:pPr indent="-342884" lvl="0" marL="342884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GB"/>
              <a:t>The impact of OpenMP parallelization is frequently localized, i.e. modifications are often needed in few places.</a:t>
            </a:r>
            <a:endParaRPr/>
          </a:p>
          <a:p>
            <a:pPr indent="-342884" lvl="0" marL="342884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GB"/>
              <a:t>It is possible to write the code such that the original sequential version is preserved.</a:t>
            </a:r>
            <a:endParaRPr/>
          </a:p>
          <a:p>
            <a:pPr indent="-342884" lvl="0" marL="342884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GB"/>
              <a:t>Each thread execute a parallelized section of code independently.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/>
          <p:nvPr>
            <p:ph type="title"/>
          </p:nvPr>
        </p:nvSpPr>
        <p:spPr>
          <a:xfrm>
            <a:off x="3185865" y="237839"/>
            <a:ext cx="70638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OpenMP Solution Stack</a:t>
            </a:r>
            <a:endParaRPr/>
          </a:p>
        </p:txBody>
      </p:sp>
      <p:grpSp>
        <p:nvGrpSpPr>
          <p:cNvPr id="95" name="Google Shape;95;p6"/>
          <p:cNvGrpSpPr/>
          <p:nvPr/>
        </p:nvGrpSpPr>
        <p:grpSpPr>
          <a:xfrm>
            <a:off x="1487488" y="1359769"/>
            <a:ext cx="8940367" cy="5237583"/>
            <a:chOff x="51233" y="1027112"/>
            <a:chExt cx="8940367" cy="5237583"/>
          </a:xfrm>
        </p:grpSpPr>
        <p:sp>
          <p:nvSpPr>
            <p:cNvPr id="96" name="Google Shape;96;p6"/>
            <p:cNvSpPr txBox="1"/>
            <p:nvPr/>
          </p:nvSpPr>
          <p:spPr>
            <a:xfrm>
              <a:off x="635000" y="3770312"/>
              <a:ext cx="8229600" cy="371255"/>
            </a:xfrm>
            <a:prstGeom prst="rect">
              <a:avLst/>
            </a:prstGeom>
            <a:solidFill>
              <a:srgbClr val="660066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62850">
              <a:spAutoFit/>
            </a:bodyPr>
            <a:lstStyle/>
            <a:p>
              <a:pPr indent="0" lvl="0" marL="635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OpenMP Runtime library</a:t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" name="Google Shape;97;p6"/>
            <p:cNvSpPr txBox="1"/>
            <p:nvPr/>
          </p:nvSpPr>
          <p:spPr>
            <a:xfrm>
              <a:off x="635000" y="4379912"/>
              <a:ext cx="8229600" cy="371255"/>
            </a:xfrm>
            <a:prstGeom prst="rect">
              <a:avLst/>
            </a:prstGeom>
            <a:solidFill>
              <a:srgbClr val="660066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62850">
              <a:spAutoFit/>
            </a:bodyPr>
            <a:lstStyle/>
            <a:p>
              <a:pPr indent="0" lvl="0" marL="892175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OS/system support for shared memory and threading</a:t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" name="Google Shape;98;p6"/>
            <p:cNvSpPr/>
            <p:nvPr/>
          </p:nvSpPr>
          <p:spPr>
            <a:xfrm>
              <a:off x="533400" y="3670502"/>
              <a:ext cx="8458200" cy="1905"/>
            </a:xfrm>
            <a:custGeom>
              <a:rect b="b" l="l" r="r" t="t"/>
              <a:pathLst>
                <a:path extrusionOk="0" h="1904" w="8458200">
                  <a:moveTo>
                    <a:pt x="0" y="0"/>
                  </a:moveTo>
                  <a:lnTo>
                    <a:pt x="8458204" y="1588"/>
                  </a:lnTo>
                </a:path>
              </a:pathLst>
            </a:custGeom>
            <a:noFill/>
            <a:ln cap="flat" cmpd="sng" w="762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" name="Google Shape;99;p6"/>
            <p:cNvSpPr txBox="1"/>
            <p:nvPr/>
          </p:nvSpPr>
          <p:spPr>
            <a:xfrm rot="-5400000">
              <a:off x="-486929" y="4225934"/>
              <a:ext cx="1437005" cy="269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12700" marR="0" rtl="0" algn="l">
                <a:lnSpc>
                  <a:spcPct val="78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1" baseline="30000" i="0" lang="en-GB" sz="27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Syst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em layer</a:t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" name="Google Shape;100;p6"/>
            <p:cNvSpPr txBox="1"/>
            <p:nvPr/>
          </p:nvSpPr>
          <p:spPr>
            <a:xfrm>
              <a:off x="635000" y="2627312"/>
              <a:ext cx="2413000" cy="975266"/>
            </a:xfrm>
            <a:prstGeom prst="rect">
              <a:avLst/>
            </a:prstGeom>
            <a:solidFill>
              <a:srgbClr val="001B72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26025">
              <a:spAutoFit/>
            </a:bodyPr>
            <a:lstStyle/>
            <a:p>
              <a:pPr indent="-91440" lvl="0" marL="655955" marR="556895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Directives,  Compiler</a:t>
              </a:r>
              <a:endParaRPr b="1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91440" lvl="0" marL="655955" marR="556895" rtl="0" algn="l">
                <a:lnSpc>
                  <a:spcPct val="100000"/>
                </a:lnSpc>
                <a:spcBef>
                  <a:spcPts val="204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" name="Google Shape;101;p6"/>
            <p:cNvSpPr txBox="1"/>
            <p:nvPr/>
          </p:nvSpPr>
          <p:spPr>
            <a:xfrm>
              <a:off x="3276600" y="2627312"/>
              <a:ext cx="3048000" cy="897040"/>
            </a:xfrm>
            <a:prstGeom prst="rect">
              <a:avLst/>
            </a:prstGeom>
            <a:solidFill>
              <a:srgbClr val="001B72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139050">
              <a:spAutoFit/>
            </a:bodyPr>
            <a:lstStyle/>
            <a:p>
              <a:pPr indent="0" lvl="0" marL="588645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OpenMP library</a:t>
              </a:r>
              <a:endParaRPr b="1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588645" marR="0" rtl="0" algn="l">
                <a:lnSpc>
                  <a:spcPct val="100000"/>
                </a:lnSpc>
                <a:spcBef>
                  <a:spcPts val="1095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" name="Google Shape;102;p6"/>
            <p:cNvSpPr txBox="1"/>
            <p:nvPr/>
          </p:nvSpPr>
          <p:spPr>
            <a:xfrm>
              <a:off x="6553200" y="2627312"/>
              <a:ext cx="2311400" cy="910506"/>
            </a:xfrm>
            <a:prstGeom prst="rect">
              <a:avLst/>
            </a:prstGeom>
            <a:solidFill>
              <a:srgbClr val="001B72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60960" rtl="0" algn="ctr">
                <a:lnSpc>
                  <a:spcPct val="114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Environment</a:t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Variables</a:t>
              </a:r>
              <a:endParaRPr b="1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3" name="Google Shape;103;p6"/>
            <p:cNvSpPr/>
            <p:nvPr/>
          </p:nvSpPr>
          <p:spPr>
            <a:xfrm>
              <a:off x="533400" y="2520279"/>
              <a:ext cx="8458200" cy="0"/>
            </a:xfrm>
            <a:custGeom>
              <a:rect b="b" l="l" r="r" t="t"/>
              <a:pathLst>
                <a:path extrusionOk="0" h="120000" w="8458200">
                  <a:moveTo>
                    <a:pt x="0" y="0"/>
                  </a:moveTo>
                  <a:lnTo>
                    <a:pt x="8458204" y="0"/>
                  </a:lnTo>
                </a:path>
              </a:pathLst>
            </a:custGeom>
            <a:noFill/>
            <a:ln cap="flat" cmpd="sng" w="762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" name="Google Shape;104;p6"/>
            <p:cNvSpPr txBox="1"/>
            <p:nvPr/>
          </p:nvSpPr>
          <p:spPr>
            <a:xfrm rot="-5400000">
              <a:off x="11045" y="2707720"/>
              <a:ext cx="567690" cy="487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6350">
              <a:spAutoFit/>
            </a:bodyPr>
            <a:lstStyle/>
            <a:p>
              <a:pPr indent="12065" lvl="0" marL="12700" marR="5080" rtl="0" algn="l">
                <a:lnSpc>
                  <a:spcPct val="1180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GB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Prog.  Layer</a:t>
              </a:r>
              <a:endPara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5" name="Google Shape;105;p6"/>
            <p:cNvSpPr/>
            <p:nvPr/>
          </p:nvSpPr>
          <p:spPr>
            <a:xfrm>
              <a:off x="609600" y="1027112"/>
              <a:ext cx="8229600" cy="609600"/>
            </a:xfrm>
            <a:custGeom>
              <a:rect b="b" l="l" r="r" t="t"/>
              <a:pathLst>
                <a:path extrusionOk="0" h="609600" w="8229600">
                  <a:moveTo>
                    <a:pt x="0" y="0"/>
                  </a:moveTo>
                  <a:lnTo>
                    <a:pt x="8229604" y="0"/>
                  </a:lnTo>
                  <a:lnTo>
                    <a:pt x="8229604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6" name="Google Shape;106;p6"/>
            <p:cNvSpPr txBox="1"/>
            <p:nvPr/>
          </p:nvSpPr>
          <p:spPr>
            <a:xfrm>
              <a:off x="609600" y="1728191"/>
              <a:ext cx="6934200" cy="679032"/>
            </a:xfrm>
            <a:prstGeom prst="rect">
              <a:avLst/>
            </a:prstGeom>
            <a:solidFill>
              <a:srgbClr val="FFC000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6285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Application</a:t>
              </a:r>
              <a:br>
                <a:rPr b="1" i="0" lang="en-GB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endPara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7" name="Google Shape;107;p6"/>
            <p:cNvSpPr txBox="1"/>
            <p:nvPr/>
          </p:nvSpPr>
          <p:spPr>
            <a:xfrm>
              <a:off x="4001287" y="1123188"/>
              <a:ext cx="1141730" cy="33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2700">
              <a:spAutoFit/>
            </a:bodyPr>
            <a:lstStyle/>
            <a:p>
              <a:pPr indent="0" lvl="0" marL="127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End User</a:t>
              </a:r>
              <a:endPara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8" name="Google Shape;108;p6"/>
            <p:cNvSpPr txBox="1"/>
            <p:nvPr/>
          </p:nvSpPr>
          <p:spPr>
            <a:xfrm rot="-5400000">
              <a:off x="-273050" y="1450180"/>
              <a:ext cx="1009015" cy="2436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12700" marR="0" rtl="0" algn="l">
                <a:lnSpc>
                  <a:spcPct val="78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baseline="30000" i="0" lang="en-GB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Us</a:t>
              </a:r>
              <a:r>
                <a:rPr b="1" i="0" lang="en-GB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er layer</a:t>
              </a:r>
              <a:endPara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9" name="Google Shape;109;p6"/>
            <p:cNvSpPr/>
            <p:nvPr/>
          </p:nvSpPr>
          <p:spPr>
            <a:xfrm>
              <a:off x="503237" y="5054600"/>
              <a:ext cx="8458200" cy="1905"/>
            </a:xfrm>
            <a:custGeom>
              <a:rect b="b" l="l" r="r" t="t"/>
              <a:pathLst>
                <a:path extrusionOk="0" h="1904" w="8458200">
                  <a:moveTo>
                    <a:pt x="0" y="0"/>
                  </a:moveTo>
                  <a:lnTo>
                    <a:pt x="8458204" y="1588"/>
                  </a:lnTo>
                </a:path>
              </a:pathLst>
            </a:custGeom>
            <a:noFill/>
            <a:ln cap="flat" cmpd="sng" w="762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" name="Google Shape;110;p6"/>
            <p:cNvSpPr/>
            <p:nvPr/>
          </p:nvSpPr>
          <p:spPr>
            <a:xfrm>
              <a:off x="990600" y="5794795"/>
              <a:ext cx="7239000" cy="469900"/>
            </a:xfrm>
            <a:custGeom>
              <a:rect b="b" l="l" r="r" t="t"/>
              <a:pathLst>
                <a:path extrusionOk="0" h="469900" w="7239000">
                  <a:moveTo>
                    <a:pt x="7239000" y="0"/>
                  </a:moveTo>
                  <a:lnTo>
                    <a:pt x="0" y="0"/>
                  </a:lnTo>
                  <a:lnTo>
                    <a:pt x="0" y="469480"/>
                  </a:lnTo>
                  <a:lnTo>
                    <a:pt x="7239000" y="469480"/>
                  </a:lnTo>
                  <a:lnTo>
                    <a:pt x="7239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" name="Google Shape;111;p6"/>
            <p:cNvSpPr txBox="1"/>
            <p:nvPr/>
          </p:nvSpPr>
          <p:spPr>
            <a:xfrm>
              <a:off x="990600" y="5794795"/>
              <a:ext cx="7239000" cy="402673"/>
            </a:xfrm>
            <a:prstGeom prst="rect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33000">
              <a:spAutoFit/>
            </a:bodyPr>
            <a:lstStyle/>
            <a:p>
              <a:pPr indent="0" lvl="0" marL="635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GB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Shared Address Space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12" name="Google Shape;112;p6"/>
            <p:cNvGrpSpPr/>
            <p:nvPr/>
          </p:nvGrpSpPr>
          <p:grpSpPr>
            <a:xfrm>
              <a:off x="990600" y="5218112"/>
              <a:ext cx="6877049" cy="409575"/>
              <a:chOff x="990600" y="5218112"/>
              <a:chExt cx="6877049" cy="409575"/>
            </a:xfrm>
          </p:grpSpPr>
          <p:sp>
            <p:nvSpPr>
              <p:cNvPr id="113" name="Google Shape;113;p6"/>
              <p:cNvSpPr/>
              <p:nvPr/>
            </p:nvSpPr>
            <p:spPr>
              <a:xfrm>
                <a:off x="990600" y="5218112"/>
                <a:ext cx="1085850" cy="409575"/>
              </a:xfrm>
              <a:custGeom>
                <a:rect b="b" l="l" r="r" t="t"/>
                <a:pathLst>
                  <a:path extrusionOk="0" h="409575" w="1085850">
                    <a:moveTo>
                      <a:pt x="1085850" y="0"/>
                    </a:moveTo>
                    <a:lnTo>
                      <a:pt x="0" y="0"/>
                    </a:lnTo>
                    <a:lnTo>
                      <a:pt x="0" y="409408"/>
                    </a:lnTo>
                    <a:lnTo>
                      <a:pt x="1085850" y="409408"/>
                    </a:lnTo>
                    <a:lnTo>
                      <a:pt x="108585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7F7F7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4" name="Google Shape;114;p6"/>
              <p:cNvSpPr/>
              <p:nvPr/>
            </p:nvSpPr>
            <p:spPr>
              <a:xfrm>
                <a:off x="990600" y="5218112"/>
                <a:ext cx="1085850" cy="409575"/>
              </a:xfrm>
              <a:custGeom>
                <a:rect b="b" l="l" r="r" t="t"/>
                <a:pathLst>
                  <a:path extrusionOk="0" h="409575" w="1085850">
                    <a:moveTo>
                      <a:pt x="0" y="0"/>
                    </a:moveTo>
                    <a:lnTo>
                      <a:pt x="1085850" y="0"/>
                    </a:lnTo>
                    <a:lnTo>
                      <a:pt x="1085850" y="409408"/>
                    </a:lnTo>
                    <a:lnTo>
                      <a:pt x="0" y="40940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7F7F7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5" name="Google Shape;115;p6"/>
              <p:cNvSpPr/>
              <p:nvPr/>
            </p:nvSpPr>
            <p:spPr>
              <a:xfrm>
                <a:off x="2366010" y="5218112"/>
                <a:ext cx="1085850" cy="409575"/>
              </a:xfrm>
              <a:custGeom>
                <a:rect b="b" l="l" r="r" t="t"/>
                <a:pathLst>
                  <a:path extrusionOk="0" h="409575" w="1085850">
                    <a:moveTo>
                      <a:pt x="1085850" y="0"/>
                    </a:moveTo>
                    <a:lnTo>
                      <a:pt x="0" y="0"/>
                    </a:lnTo>
                    <a:lnTo>
                      <a:pt x="0" y="409408"/>
                    </a:lnTo>
                    <a:lnTo>
                      <a:pt x="1085850" y="409408"/>
                    </a:lnTo>
                    <a:lnTo>
                      <a:pt x="108585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7F7F7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6" name="Google Shape;116;p6"/>
              <p:cNvSpPr/>
              <p:nvPr/>
            </p:nvSpPr>
            <p:spPr>
              <a:xfrm>
                <a:off x="2366010" y="5218112"/>
                <a:ext cx="1085850" cy="409575"/>
              </a:xfrm>
              <a:custGeom>
                <a:rect b="b" l="l" r="r" t="t"/>
                <a:pathLst>
                  <a:path extrusionOk="0" h="409575" w="1085850">
                    <a:moveTo>
                      <a:pt x="0" y="0"/>
                    </a:moveTo>
                    <a:lnTo>
                      <a:pt x="1085850" y="0"/>
                    </a:lnTo>
                    <a:lnTo>
                      <a:pt x="1085850" y="409408"/>
                    </a:lnTo>
                    <a:lnTo>
                      <a:pt x="0" y="40940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7F7F7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7" name="Google Shape;117;p6"/>
              <p:cNvSpPr/>
              <p:nvPr/>
            </p:nvSpPr>
            <p:spPr>
              <a:xfrm>
                <a:off x="3813810" y="5218112"/>
                <a:ext cx="1085850" cy="409575"/>
              </a:xfrm>
              <a:custGeom>
                <a:rect b="b" l="l" r="r" t="t"/>
                <a:pathLst>
                  <a:path extrusionOk="0" h="409575" w="1085850">
                    <a:moveTo>
                      <a:pt x="1085850" y="0"/>
                    </a:moveTo>
                    <a:lnTo>
                      <a:pt x="0" y="0"/>
                    </a:lnTo>
                    <a:lnTo>
                      <a:pt x="0" y="409408"/>
                    </a:lnTo>
                    <a:lnTo>
                      <a:pt x="1085850" y="409408"/>
                    </a:lnTo>
                    <a:lnTo>
                      <a:pt x="108585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7F7F7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8" name="Google Shape;118;p6"/>
              <p:cNvSpPr/>
              <p:nvPr/>
            </p:nvSpPr>
            <p:spPr>
              <a:xfrm>
                <a:off x="3813810" y="5218112"/>
                <a:ext cx="1085850" cy="409575"/>
              </a:xfrm>
              <a:custGeom>
                <a:rect b="b" l="l" r="r" t="t"/>
                <a:pathLst>
                  <a:path extrusionOk="0" h="409575" w="1085850">
                    <a:moveTo>
                      <a:pt x="0" y="0"/>
                    </a:moveTo>
                    <a:lnTo>
                      <a:pt x="1085850" y="0"/>
                    </a:lnTo>
                    <a:lnTo>
                      <a:pt x="1085850" y="409408"/>
                    </a:lnTo>
                    <a:lnTo>
                      <a:pt x="0" y="40940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7F7F7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9" name="Google Shape;119;p6"/>
              <p:cNvSpPr/>
              <p:nvPr/>
            </p:nvSpPr>
            <p:spPr>
              <a:xfrm>
                <a:off x="6709409" y="5218112"/>
                <a:ext cx="1158240" cy="409575"/>
              </a:xfrm>
              <a:custGeom>
                <a:rect b="b" l="l" r="r" t="t"/>
                <a:pathLst>
                  <a:path extrusionOk="0" h="409575" w="1158240">
                    <a:moveTo>
                      <a:pt x="1158240" y="0"/>
                    </a:moveTo>
                    <a:lnTo>
                      <a:pt x="0" y="0"/>
                    </a:lnTo>
                    <a:lnTo>
                      <a:pt x="0" y="409408"/>
                    </a:lnTo>
                    <a:lnTo>
                      <a:pt x="1158240" y="409408"/>
                    </a:lnTo>
                    <a:lnTo>
                      <a:pt x="11582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7F7F7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0" name="Google Shape;120;p6"/>
              <p:cNvSpPr/>
              <p:nvPr/>
            </p:nvSpPr>
            <p:spPr>
              <a:xfrm>
                <a:off x="6709409" y="5218112"/>
                <a:ext cx="1158240" cy="409575"/>
              </a:xfrm>
              <a:custGeom>
                <a:rect b="b" l="l" r="r" t="t"/>
                <a:pathLst>
                  <a:path extrusionOk="0" h="409575" w="1158240">
                    <a:moveTo>
                      <a:pt x="0" y="0"/>
                    </a:moveTo>
                    <a:lnTo>
                      <a:pt x="1158240" y="0"/>
                    </a:lnTo>
                    <a:lnTo>
                      <a:pt x="1158240" y="409408"/>
                    </a:lnTo>
                    <a:lnTo>
                      <a:pt x="0" y="40940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7F7F7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21" name="Google Shape;121;p6"/>
            <p:cNvSpPr txBox="1"/>
            <p:nvPr/>
          </p:nvSpPr>
          <p:spPr>
            <a:xfrm>
              <a:off x="1071880" y="5236976"/>
              <a:ext cx="6569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2700">
              <a:spAutoFit/>
            </a:bodyPr>
            <a:lstStyle/>
            <a:p>
              <a:pPr indent="0" lvl="0" marL="635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Proc1	           Proc</a:t>
              </a:r>
              <a:r>
                <a:rPr b="1" baseline="-25000" i="0" lang="en-GB" sz="195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	                    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Proc</a:t>
              </a:r>
              <a:r>
                <a:rPr b="1" baseline="-25000" i="0" lang="en-GB" sz="195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	 </a:t>
              </a:r>
              <a:r>
                <a:rPr b="1" baseline="-25000" lang="en-GB" sz="195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                                                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ProcN</a:t>
              </a:r>
              <a:endPara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22" name="Google Shape;122;p6"/>
            <p:cNvGrpSpPr/>
            <p:nvPr/>
          </p:nvGrpSpPr>
          <p:grpSpPr>
            <a:xfrm>
              <a:off x="1497330" y="5343918"/>
              <a:ext cx="5718809" cy="494945"/>
              <a:chOff x="1497330" y="5343918"/>
              <a:chExt cx="5718809" cy="494945"/>
            </a:xfrm>
          </p:grpSpPr>
          <p:sp>
            <p:nvSpPr>
              <p:cNvPr id="123" name="Google Shape;123;p6"/>
              <p:cNvSpPr/>
              <p:nvPr/>
            </p:nvSpPr>
            <p:spPr>
              <a:xfrm>
                <a:off x="1497330" y="5527713"/>
                <a:ext cx="0" cy="311150"/>
              </a:xfrm>
              <a:custGeom>
                <a:rect b="b" l="l" r="r" t="t"/>
                <a:pathLst>
                  <a:path extrusionOk="0" h="311150" w="120000">
                    <a:moveTo>
                      <a:pt x="0" y="0"/>
                    </a:moveTo>
                    <a:lnTo>
                      <a:pt x="0" y="310522"/>
                    </a:ln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7F7F7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4" name="Google Shape;124;p6"/>
              <p:cNvSpPr/>
              <p:nvPr/>
            </p:nvSpPr>
            <p:spPr>
              <a:xfrm>
                <a:off x="2872740" y="5527713"/>
                <a:ext cx="0" cy="311150"/>
              </a:xfrm>
              <a:custGeom>
                <a:rect b="b" l="l" r="r" t="t"/>
                <a:pathLst>
                  <a:path extrusionOk="0" h="311150" w="120000">
                    <a:moveTo>
                      <a:pt x="0" y="0"/>
                    </a:moveTo>
                    <a:lnTo>
                      <a:pt x="0" y="310522"/>
                    </a:ln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7F7F7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5" name="Google Shape;125;p6"/>
              <p:cNvSpPr/>
              <p:nvPr/>
            </p:nvSpPr>
            <p:spPr>
              <a:xfrm>
                <a:off x="4320540" y="5527713"/>
                <a:ext cx="0" cy="311150"/>
              </a:xfrm>
              <a:custGeom>
                <a:rect b="b" l="l" r="r" t="t"/>
                <a:pathLst>
                  <a:path extrusionOk="0" h="311150" w="120000">
                    <a:moveTo>
                      <a:pt x="0" y="0"/>
                    </a:moveTo>
                    <a:lnTo>
                      <a:pt x="0" y="310522"/>
                    </a:ln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7F7F7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6" name="Google Shape;126;p6"/>
              <p:cNvSpPr/>
              <p:nvPr/>
            </p:nvSpPr>
            <p:spPr>
              <a:xfrm>
                <a:off x="7216139" y="5527713"/>
                <a:ext cx="0" cy="311150"/>
              </a:xfrm>
              <a:custGeom>
                <a:rect b="b" l="l" r="r" t="t"/>
                <a:pathLst>
                  <a:path extrusionOk="0" h="311150" w="120000">
                    <a:moveTo>
                      <a:pt x="0" y="0"/>
                    </a:moveTo>
                    <a:lnTo>
                      <a:pt x="0" y="310522"/>
                    </a:ln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7F7F7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7" name="Google Shape;127;p6"/>
              <p:cNvSpPr/>
              <p:nvPr/>
            </p:nvSpPr>
            <p:spPr>
              <a:xfrm>
                <a:off x="5400039" y="5343918"/>
                <a:ext cx="157480" cy="101421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7F7F7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>
                <a:off x="5761989" y="5343918"/>
                <a:ext cx="157480" cy="101421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7F7F7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9" name="Google Shape;129;p6"/>
              <p:cNvSpPr/>
              <p:nvPr/>
            </p:nvSpPr>
            <p:spPr>
              <a:xfrm>
                <a:off x="6123939" y="5343918"/>
                <a:ext cx="157480" cy="101421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7F7F7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30" name="Google Shape;130;p6"/>
            <p:cNvSpPr txBox="1"/>
            <p:nvPr/>
          </p:nvSpPr>
          <p:spPr>
            <a:xfrm rot="-5400000">
              <a:off x="164361" y="5498979"/>
              <a:ext cx="407670" cy="5386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12700" marR="0" rtl="0" algn="l">
                <a:lnSpc>
                  <a:spcPct val="1161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HW</a:t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31" name="Google Shape;131;p6"/>
          <p:cNvSpPr txBox="1"/>
          <p:nvPr/>
        </p:nvSpPr>
        <p:spPr>
          <a:xfrm>
            <a:off x="2045854" y="1268760"/>
            <a:ext cx="8255000" cy="74315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62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 User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9056254" y="1602987"/>
            <a:ext cx="1258837" cy="3712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0" lIns="0" spcFirstLastPara="1" rIns="0" wrap="square" tIns="62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How it works</a:t>
            </a:r>
            <a:endParaRPr/>
          </a:p>
        </p:txBody>
      </p:sp>
      <p:sp>
        <p:nvSpPr>
          <p:cNvPr id="138" name="Google Shape;138;p7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884" lvl="0" marL="342884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-GB"/>
              <a:t>OpenMP is an implementation of multithreading,  where a </a:t>
            </a:r>
            <a:r>
              <a:rPr b="1" lang="en-GB"/>
              <a:t>master thread</a:t>
            </a:r>
            <a:r>
              <a:rPr lang="en-GB"/>
              <a:t>, </a:t>
            </a:r>
            <a:r>
              <a:rPr b="1" lang="en-GB"/>
              <a:t>forks</a:t>
            </a:r>
            <a:r>
              <a:rPr lang="en-GB"/>
              <a:t> a specified number of </a:t>
            </a:r>
            <a:r>
              <a:rPr b="1" lang="en-GB"/>
              <a:t>slave threads </a:t>
            </a:r>
            <a:r>
              <a:rPr lang="en-GB"/>
              <a:t>and a task is divided among them.</a:t>
            </a:r>
            <a:endParaRPr/>
          </a:p>
          <a:p>
            <a:pPr indent="-342884" lvl="0" marL="342884" rtl="0" algn="just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-GB"/>
              <a:t>The main approach is based in </a:t>
            </a:r>
            <a:r>
              <a:rPr b="1" lang="en-GB"/>
              <a:t>identifying the parallelism </a:t>
            </a:r>
            <a:r>
              <a:rPr lang="en-GB"/>
              <a:t>in the program, and not in reprogramming the code to implement the parallelism.</a:t>
            </a:r>
            <a:endParaRPr/>
          </a:p>
          <a:p>
            <a:pPr indent="-342884" lvl="0" marL="342884" rtl="0" algn="just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-GB"/>
              <a:t>The </a:t>
            </a:r>
            <a:r>
              <a:rPr b="1" lang="en-GB"/>
              <a:t>section of code </a:t>
            </a:r>
            <a:r>
              <a:rPr lang="en-GB"/>
              <a:t>that is meant to </a:t>
            </a:r>
            <a:r>
              <a:rPr b="1" lang="en-GB"/>
              <a:t>run in parallel </a:t>
            </a:r>
            <a:r>
              <a:rPr lang="en-GB"/>
              <a:t>is marked with a </a:t>
            </a:r>
            <a:r>
              <a:rPr b="1" lang="en-GB"/>
              <a:t>preprocessor directive</a:t>
            </a:r>
            <a:r>
              <a:rPr lang="en-GB"/>
              <a:t>.</a:t>
            </a:r>
            <a:endParaRPr/>
          </a:p>
          <a:p>
            <a:pPr indent="-342884" lvl="0" marL="342884" rtl="0" algn="just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-GB"/>
              <a:t>Each thread has a </a:t>
            </a:r>
            <a:r>
              <a:rPr b="1" lang="en-GB"/>
              <a:t>unique identifier </a:t>
            </a:r>
            <a:r>
              <a:rPr lang="en-GB"/>
              <a:t>called a thread id, where the </a:t>
            </a:r>
            <a:r>
              <a:rPr b="1" lang="en-GB"/>
              <a:t>master thread has an id of 0</a:t>
            </a:r>
            <a:r>
              <a:rPr lang="en-GB"/>
              <a:t>.</a:t>
            </a:r>
            <a:endParaRPr/>
          </a:p>
          <a:p>
            <a:pPr indent="-342884" lvl="0" marL="342884" rtl="0" algn="just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-GB"/>
              <a:t>Both task and data parallelism can be achieved using OpenMP by using work-sharing constructs to divide a task.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OpenMP Fork/Join Model</a:t>
            </a:r>
            <a:endParaRPr/>
          </a:p>
        </p:txBody>
      </p:sp>
      <p:grpSp>
        <p:nvGrpSpPr>
          <p:cNvPr id="144" name="Google Shape;144;p8"/>
          <p:cNvGrpSpPr/>
          <p:nvPr/>
        </p:nvGrpSpPr>
        <p:grpSpPr>
          <a:xfrm>
            <a:off x="67045" y="1441883"/>
            <a:ext cx="11955495" cy="5211394"/>
            <a:chOff x="55252" y="1114687"/>
            <a:chExt cx="12936848" cy="8140178"/>
          </a:xfrm>
        </p:grpSpPr>
        <p:sp>
          <p:nvSpPr>
            <p:cNvPr id="145" name="Google Shape;145;p8"/>
            <p:cNvSpPr/>
            <p:nvPr/>
          </p:nvSpPr>
          <p:spPr>
            <a:xfrm>
              <a:off x="832947" y="3228554"/>
              <a:ext cx="3340101" cy="769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GB" sz="3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6" name="Google Shape;146;p8"/>
            <p:cNvCxnSpPr/>
            <p:nvPr/>
          </p:nvCxnSpPr>
          <p:spPr>
            <a:xfrm flipH="1" rot="10800000">
              <a:off x="1346199" y="4000357"/>
              <a:ext cx="1" cy="2531792"/>
            </a:xfrm>
            <a:prstGeom prst="straightConnector1">
              <a:avLst/>
            </a:prstGeom>
            <a:noFill/>
            <a:ln>
              <a:noFill/>
            </a:ln>
          </p:spPr>
        </p:cxnSp>
        <p:sp>
          <p:nvSpPr>
            <p:cNvPr id="147" name="Google Shape;147;p8"/>
            <p:cNvSpPr/>
            <p:nvPr/>
          </p:nvSpPr>
          <p:spPr>
            <a:xfrm>
              <a:off x="825499" y="6517854"/>
              <a:ext cx="3340100" cy="769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GB" sz="3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Join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8"/>
            <p:cNvSpPr/>
            <p:nvPr/>
          </p:nvSpPr>
          <p:spPr>
            <a:xfrm>
              <a:off x="4750922" y="1499283"/>
              <a:ext cx="8140701" cy="18909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GB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program starts as a single thread just like a </a:t>
              </a:r>
              <a:r>
                <a:rPr b="1" i="0" lang="en-GB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sequential program</a:t>
              </a:r>
              <a:r>
                <a:rPr b="0" i="0" lang="en-GB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 The thread that executes this code is referred to as the </a:t>
              </a:r>
              <a:r>
                <a:rPr b="1" i="1" lang="en-GB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initial thread</a:t>
              </a:r>
              <a:r>
                <a:rPr b="0" i="0" lang="en-GB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4851400" y="3754487"/>
              <a:ext cx="8140700" cy="30447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GB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Whenever an OpenMP </a:t>
              </a:r>
              <a:r>
                <a:rPr b="0" i="1" lang="en-GB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parallel</a:t>
              </a:r>
              <a:r>
                <a:rPr b="0" i="0" lang="en-GB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construct is encountered, a team of threads is created </a:t>
              </a:r>
              <a:r>
                <a:rPr b="1" i="0" lang="en-GB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(fork). </a:t>
              </a:r>
              <a:r>
                <a:rPr b="0" i="0" lang="en-GB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</a:t>
              </a:r>
              <a:r>
                <a:rPr b="1" i="0" lang="en-GB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initial</a:t>
              </a:r>
              <a:r>
                <a:rPr b="0" i="0" lang="en-GB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thread becomes the </a:t>
              </a:r>
              <a:r>
                <a:rPr b="1" i="0" lang="en-GB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master</a:t>
              </a:r>
              <a:r>
                <a:rPr b="0" i="0" lang="en-GB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of the team. They all </a:t>
              </a:r>
              <a:r>
                <a:rPr b="1" i="0" lang="en-GB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execute</a:t>
              </a:r>
              <a:r>
                <a:rPr b="0" i="0" lang="en-GB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the code </a:t>
              </a:r>
              <a:r>
                <a:rPr b="1" i="0" lang="en-GB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enclosed in the construct</a:t>
              </a:r>
              <a:r>
                <a:rPr b="0" i="0" lang="en-GB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1" lang="en-GB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Implicit barrier </a:t>
              </a:r>
              <a:r>
                <a:rPr b="0" i="0" lang="en-GB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at the end of the </a:t>
              </a:r>
              <a:r>
                <a:rPr b="1" i="0" lang="en-GB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parallel section</a:t>
              </a:r>
              <a:r>
                <a:rPr b="0" i="0" lang="en-GB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" name="Google Shape;150;p8"/>
            <p:cNvSpPr/>
            <p:nvPr/>
          </p:nvSpPr>
          <p:spPr>
            <a:xfrm>
              <a:off x="4787900" y="7470981"/>
              <a:ext cx="8140700" cy="13140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GB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At the end of the construct, only the </a:t>
              </a:r>
              <a:r>
                <a:rPr b="1" i="0" lang="en-GB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original thread </a:t>
              </a:r>
              <a:r>
                <a:rPr b="0" i="0" lang="en-GB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continues and all </a:t>
              </a:r>
              <a:r>
                <a:rPr b="1" i="0" lang="en-GB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other terminate (join).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1" name="Google Shape;151;p8"/>
            <p:cNvCxnSpPr/>
            <p:nvPr/>
          </p:nvCxnSpPr>
          <p:spPr>
            <a:xfrm rot="10800000">
              <a:off x="2501900" y="1383620"/>
              <a:ext cx="0" cy="1859371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152" name="Google Shape;152;p8"/>
            <p:cNvCxnSpPr/>
            <p:nvPr/>
          </p:nvCxnSpPr>
          <p:spPr>
            <a:xfrm rot="10800000">
              <a:off x="2438400" y="7298737"/>
              <a:ext cx="0" cy="1837055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153" name="Google Shape;153;p8"/>
            <p:cNvCxnSpPr/>
            <p:nvPr/>
          </p:nvCxnSpPr>
          <p:spPr>
            <a:xfrm rot="10800000">
              <a:off x="2032000" y="4000500"/>
              <a:ext cx="0" cy="2531792"/>
            </a:xfrm>
            <a:prstGeom prst="straightConnector1">
              <a:avLst/>
            </a:prstGeom>
            <a:noFill/>
            <a:ln cap="flat" cmpd="sng" w="88900">
              <a:solidFill>
                <a:srgbClr val="797979"/>
              </a:solidFill>
              <a:prstDash val="solid"/>
              <a:miter lim="400000"/>
              <a:headEnd len="med" w="med" type="stealth"/>
              <a:tailEnd len="sm" w="sm" type="none"/>
            </a:ln>
          </p:spPr>
        </p:cxnSp>
        <p:cxnSp>
          <p:nvCxnSpPr>
            <p:cNvPr id="154" name="Google Shape;154;p8"/>
            <p:cNvCxnSpPr/>
            <p:nvPr/>
          </p:nvCxnSpPr>
          <p:spPr>
            <a:xfrm rot="10800000">
              <a:off x="2794000" y="4000500"/>
              <a:ext cx="0" cy="2531792"/>
            </a:xfrm>
            <a:prstGeom prst="straightConnector1">
              <a:avLst/>
            </a:prstGeom>
            <a:noFill/>
            <a:ln cap="flat" cmpd="sng" w="88900">
              <a:solidFill>
                <a:srgbClr val="797979"/>
              </a:solidFill>
              <a:prstDash val="solid"/>
              <a:miter lim="400000"/>
              <a:headEnd len="med" w="med" type="stealth"/>
              <a:tailEnd len="sm" w="sm" type="none"/>
            </a:ln>
          </p:spPr>
        </p:cxnSp>
        <p:cxnSp>
          <p:nvCxnSpPr>
            <p:cNvPr id="155" name="Google Shape;155;p8"/>
            <p:cNvCxnSpPr/>
            <p:nvPr/>
          </p:nvCxnSpPr>
          <p:spPr>
            <a:xfrm rot="10800000">
              <a:off x="3683000" y="4000500"/>
              <a:ext cx="0" cy="2531792"/>
            </a:xfrm>
            <a:prstGeom prst="straightConnector1">
              <a:avLst/>
            </a:prstGeom>
            <a:noFill/>
            <a:ln cap="flat" cmpd="sng" w="88900">
              <a:solidFill>
                <a:srgbClr val="797979"/>
              </a:solidFill>
              <a:prstDash val="solid"/>
              <a:miter lim="400000"/>
              <a:headEnd len="med" w="med" type="stealth"/>
              <a:tailEnd len="sm" w="sm" type="none"/>
            </a:ln>
          </p:spPr>
        </p:cxnSp>
        <p:sp>
          <p:nvSpPr>
            <p:cNvPr id="156" name="Google Shape;156;p8"/>
            <p:cNvSpPr/>
            <p:nvPr/>
          </p:nvSpPr>
          <p:spPr>
            <a:xfrm rot="-5400000">
              <a:off x="-576801" y="5223031"/>
              <a:ext cx="1574944" cy="3108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Parallel region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90394" y="3603887"/>
              <a:ext cx="582576" cy="2660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400"/>
                <a:buFont typeface="Arial"/>
                <a:buNone/>
              </a:pPr>
              <a:r>
                <a:rPr b="0" i="0" lang="en-GB" sz="10400" u="none" cap="none" strike="noStrike">
                  <a:solidFill>
                    <a:srgbClr val="96D35F"/>
                  </a:solidFill>
                  <a:latin typeface="Palatino"/>
                  <a:ea typeface="Palatino"/>
                  <a:cs typeface="Palatino"/>
                  <a:sym typeface="Palatino"/>
                </a:rPr>
                <a:t>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8"/>
            <p:cNvSpPr/>
            <p:nvPr/>
          </p:nvSpPr>
          <p:spPr>
            <a:xfrm flipH="1">
              <a:off x="4267200" y="6594738"/>
              <a:ext cx="582576" cy="2660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400"/>
                <a:buFont typeface="Arial"/>
                <a:buNone/>
              </a:pPr>
              <a:r>
                <a:rPr b="0" i="0" lang="en-GB" sz="10400" u="none" cap="none" strike="noStrike">
                  <a:solidFill>
                    <a:srgbClr val="96D35F"/>
                  </a:solidFill>
                  <a:latin typeface="Palatino"/>
                  <a:ea typeface="Palatino"/>
                  <a:cs typeface="Palatino"/>
                  <a:sym typeface="Palatino"/>
                </a:rPr>
                <a:t>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8"/>
            <p:cNvSpPr/>
            <p:nvPr/>
          </p:nvSpPr>
          <p:spPr>
            <a:xfrm flipH="1">
              <a:off x="4368803" y="3665361"/>
              <a:ext cx="794845" cy="2660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400"/>
                <a:buFont typeface="Arial"/>
                <a:buNone/>
              </a:pPr>
              <a:r>
                <a:rPr b="0" i="0" lang="en-GB" sz="10400" u="none" cap="none" strike="noStrike">
                  <a:solidFill>
                    <a:srgbClr val="96D35F"/>
                  </a:solidFill>
                  <a:latin typeface="Palatino"/>
                  <a:ea typeface="Palatino"/>
                  <a:cs typeface="Palatino"/>
                  <a:sym typeface="Palatino"/>
                </a:rPr>
                <a:t>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8"/>
            <p:cNvSpPr/>
            <p:nvPr/>
          </p:nvSpPr>
          <p:spPr>
            <a:xfrm flipH="1">
              <a:off x="4332659" y="1114687"/>
              <a:ext cx="582576" cy="2660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400"/>
                <a:buFont typeface="Arial"/>
                <a:buNone/>
              </a:pPr>
              <a:r>
                <a:rPr b="0" i="0" lang="en-GB" sz="10400" u="none" cap="none" strike="noStrike">
                  <a:solidFill>
                    <a:srgbClr val="96D35F"/>
                  </a:solidFill>
                  <a:latin typeface="Palatino"/>
                  <a:ea typeface="Palatino"/>
                  <a:cs typeface="Palatino"/>
                  <a:sym typeface="Palatino"/>
                </a:rPr>
                <a:t>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OpenMP Programming Model</a:t>
            </a:r>
            <a:endParaRPr/>
          </a:p>
        </p:txBody>
      </p:sp>
      <p:sp>
        <p:nvSpPr>
          <p:cNvPr id="166" name="Google Shape;166;p9"/>
          <p:cNvSpPr txBox="1"/>
          <p:nvPr>
            <p:ph idx="1" type="body"/>
          </p:nvPr>
        </p:nvSpPr>
        <p:spPr>
          <a:xfrm>
            <a:off x="1415480" y="2861979"/>
            <a:ext cx="9289031" cy="3807383"/>
          </a:xfrm>
          <a:prstGeom prst="rect">
            <a:avLst/>
          </a:prstGeom>
          <a:solidFill>
            <a:srgbClr val="B2B2B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167" name="Google Shape;167;p9"/>
          <p:cNvSpPr txBox="1"/>
          <p:nvPr/>
        </p:nvSpPr>
        <p:spPr>
          <a:xfrm>
            <a:off x="1772792" y="1056482"/>
            <a:ext cx="8277859" cy="1724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38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Fork-Join Parallelism: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698500" marR="0" rtl="0" algn="l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Clr>
                <a:srgbClr val="F5C300"/>
              </a:buClr>
              <a:buSzPts val="1417"/>
              <a:buFont typeface="Noto Sans Symbols"/>
              <a:buChar char="◆"/>
            </a:pPr>
            <a:r>
              <a:rPr b="0" i="0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Master thread spawns a team of threads as needed.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698500" marR="5080" rtl="0" algn="l">
              <a:lnSpc>
                <a:spcPct val="93700"/>
              </a:lnSpc>
              <a:spcBef>
                <a:spcPts val="1500"/>
              </a:spcBef>
              <a:spcAft>
                <a:spcPts val="0"/>
              </a:spcAft>
              <a:buClr>
                <a:srgbClr val="F5C300"/>
              </a:buClr>
              <a:buSzPts val="1417"/>
              <a:buFont typeface="Noto Sans Symbols"/>
              <a:buChar char="◆"/>
            </a:pPr>
            <a:r>
              <a:rPr b="0" i="0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Parallelism added incrementally until performance goals  are met: i.e. the sequential program evolves into a  parallel program.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8" name="Google Shape;168;p9"/>
          <p:cNvGrpSpPr/>
          <p:nvPr/>
        </p:nvGrpSpPr>
        <p:grpSpPr>
          <a:xfrm>
            <a:off x="2147777" y="3200400"/>
            <a:ext cx="8080039" cy="3199037"/>
            <a:chOff x="911560" y="3200400"/>
            <a:chExt cx="8080039" cy="3199037"/>
          </a:xfrm>
        </p:grpSpPr>
        <p:sp>
          <p:nvSpPr>
            <p:cNvPr id="169" name="Google Shape;169;p9"/>
            <p:cNvSpPr/>
            <p:nvPr/>
          </p:nvSpPr>
          <p:spPr>
            <a:xfrm>
              <a:off x="1701800" y="3809999"/>
              <a:ext cx="6172200" cy="1981200"/>
            </a:xfrm>
            <a:custGeom>
              <a:rect b="b" l="l" r="r" t="t"/>
              <a:pathLst>
                <a:path extrusionOk="0" h="1981200" w="6172200">
                  <a:moveTo>
                    <a:pt x="1600200" y="0"/>
                  </a:moveTo>
                  <a:lnTo>
                    <a:pt x="0" y="0"/>
                  </a:lnTo>
                  <a:lnTo>
                    <a:pt x="0" y="1981200"/>
                  </a:lnTo>
                  <a:lnTo>
                    <a:pt x="1600200" y="1981200"/>
                  </a:lnTo>
                  <a:lnTo>
                    <a:pt x="1600200" y="0"/>
                  </a:lnTo>
                  <a:close/>
                </a:path>
                <a:path extrusionOk="0" h="1981200" w="6172200">
                  <a:moveTo>
                    <a:pt x="3962400" y="0"/>
                  </a:moveTo>
                  <a:lnTo>
                    <a:pt x="2362200" y="0"/>
                  </a:lnTo>
                  <a:lnTo>
                    <a:pt x="2362200" y="1981200"/>
                  </a:lnTo>
                  <a:lnTo>
                    <a:pt x="3962400" y="1981200"/>
                  </a:lnTo>
                  <a:lnTo>
                    <a:pt x="3962400" y="0"/>
                  </a:lnTo>
                  <a:close/>
                </a:path>
                <a:path extrusionOk="0" h="1981200" w="6172200">
                  <a:moveTo>
                    <a:pt x="6172200" y="0"/>
                  </a:moveTo>
                  <a:lnTo>
                    <a:pt x="4648200" y="0"/>
                  </a:lnTo>
                  <a:lnTo>
                    <a:pt x="4648200" y="382587"/>
                  </a:lnTo>
                  <a:lnTo>
                    <a:pt x="4648200" y="1981200"/>
                  </a:lnTo>
                  <a:lnTo>
                    <a:pt x="6172200" y="1981200"/>
                  </a:lnTo>
                  <a:lnTo>
                    <a:pt x="6172200" y="382587"/>
                  </a:lnTo>
                  <a:lnTo>
                    <a:pt x="6172200" y="0"/>
                  </a:lnTo>
                  <a:close/>
                </a:path>
              </a:pathLst>
            </a:custGeom>
            <a:solidFill>
              <a:srgbClr val="001B7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0" name="Google Shape;170;p9"/>
            <p:cNvSpPr/>
            <p:nvPr/>
          </p:nvSpPr>
          <p:spPr>
            <a:xfrm>
              <a:off x="911560" y="3200400"/>
              <a:ext cx="8080039" cy="319903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71" name="Google Shape;171;p9"/>
          <p:cNvSpPr txBox="1"/>
          <p:nvPr/>
        </p:nvSpPr>
        <p:spPr>
          <a:xfrm>
            <a:off x="4944299" y="2861979"/>
            <a:ext cx="279400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GB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Parallel Regions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2" name="Google Shape;172;p9"/>
          <p:cNvGrpSpPr/>
          <p:nvPr/>
        </p:nvGrpSpPr>
        <p:grpSpPr>
          <a:xfrm>
            <a:off x="3827017" y="3341192"/>
            <a:ext cx="4572000" cy="469265"/>
            <a:chOff x="2590800" y="3341192"/>
            <a:chExt cx="4572000" cy="469265"/>
          </a:xfrm>
        </p:grpSpPr>
        <p:sp>
          <p:nvSpPr>
            <p:cNvPr id="173" name="Google Shape;173;p9"/>
            <p:cNvSpPr/>
            <p:nvPr/>
          </p:nvSpPr>
          <p:spPr>
            <a:xfrm>
              <a:off x="2590800" y="3341192"/>
              <a:ext cx="4572000" cy="469265"/>
            </a:xfrm>
            <a:custGeom>
              <a:rect b="b" l="l" r="r" t="t"/>
              <a:pathLst>
                <a:path extrusionOk="0" h="469264" w="4572000">
                  <a:moveTo>
                    <a:pt x="916838" y="17475"/>
                  </a:moveTo>
                  <a:lnTo>
                    <a:pt x="911961" y="5753"/>
                  </a:lnTo>
                  <a:lnTo>
                    <a:pt x="48348" y="365582"/>
                  </a:lnTo>
                  <a:lnTo>
                    <a:pt x="55689" y="328129"/>
                  </a:lnTo>
                  <a:lnTo>
                    <a:pt x="0" y="392607"/>
                  </a:lnTo>
                  <a:lnTo>
                    <a:pt x="84988" y="398475"/>
                  </a:lnTo>
                  <a:lnTo>
                    <a:pt x="55664" y="378929"/>
                  </a:lnTo>
                  <a:lnTo>
                    <a:pt x="53225" y="377317"/>
                  </a:lnTo>
                  <a:lnTo>
                    <a:pt x="916838" y="17475"/>
                  </a:lnTo>
                  <a:close/>
                </a:path>
                <a:path extrusionOk="0" h="469264" w="4572000">
                  <a:moveTo>
                    <a:pt x="4572000" y="468807"/>
                  </a:moveTo>
                  <a:lnTo>
                    <a:pt x="4558931" y="445617"/>
                  </a:lnTo>
                  <a:lnTo>
                    <a:pt x="4530204" y="394576"/>
                  </a:lnTo>
                  <a:lnTo>
                    <a:pt x="4529950" y="432739"/>
                  </a:lnTo>
                  <a:lnTo>
                    <a:pt x="4529912" y="440359"/>
                  </a:lnTo>
                  <a:lnTo>
                    <a:pt x="4529950" y="432739"/>
                  </a:lnTo>
                  <a:lnTo>
                    <a:pt x="3889756" y="0"/>
                  </a:lnTo>
                  <a:lnTo>
                    <a:pt x="3882644" y="10515"/>
                  </a:lnTo>
                  <a:lnTo>
                    <a:pt x="4522851" y="443255"/>
                  </a:lnTo>
                  <a:lnTo>
                    <a:pt x="4487532" y="457708"/>
                  </a:lnTo>
                  <a:lnTo>
                    <a:pt x="4572000" y="46880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4" name="Google Shape;174;p9"/>
            <p:cNvSpPr/>
            <p:nvPr/>
          </p:nvSpPr>
          <p:spPr>
            <a:xfrm>
              <a:off x="4914900" y="3505199"/>
              <a:ext cx="76200" cy="2286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75" name="Google Shape;175;p9"/>
          <p:cNvSpPr txBox="1"/>
          <p:nvPr/>
        </p:nvSpPr>
        <p:spPr>
          <a:xfrm>
            <a:off x="1631504" y="3448811"/>
            <a:ext cx="873125" cy="936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14603" lvl="0" marL="12700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Master  Thread  in red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9"/>
          <p:cNvSpPr txBox="1"/>
          <p:nvPr/>
        </p:nvSpPr>
        <p:spPr>
          <a:xfrm>
            <a:off x="9038271" y="3233420"/>
            <a:ext cx="1007744" cy="56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8575">
            <a:spAutoFit/>
          </a:bodyPr>
          <a:lstStyle/>
          <a:p>
            <a:pPr indent="-85090" lvl="0" marL="97155" marR="508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Nested  Parallel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9"/>
          <p:cNvSpPr txBox="1"/>
          <p:nvPr/>
        </p:nvSpPr>
        <p:spPr>
          <a:xfrm>
            <a:off x="9180067" y="3779011"/>
            <a:ext cx="7239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9"/>
          <p:cNvSpPr txBox="1"/>
          <p:nvPr/>
        </p:nvSpPr>
        <p:spPr>
          <a:xfrm>
            <a:off x="5020817" y="6193732"/>
            <a:ext cx="2640965" cy="443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Arial"/>
              <a:buNone/>
            </a:pPr>
            <a:r>
              <a:rPr b="1" i="0" lang="en-GB" sz="27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Sequential Parts</a:t>
            </a:r>
            <a:endParaRPr b="0" i="0" sz="27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2684017" y="4876800"/>
            <a:ext cx="2673350" cy="1529715"/>
          </a:xfrm>
          <a:custGeom>
            <a:rect b="b" l="l" r="r" t="t"/>
            <a:pathLst>
              <a:path extrusionOk="0" h="1529714" w="2673350">
                <a:moveTo>
                  <a:pt x="2213406" y="1518780"/>
                </a:moveTo>
                <a:lnTo>
                  <a:pt x="48895" y="26022"/>
                </a:lnTo>
                <a:lnTo>
                  <a:pt x="54927" y="23622"/>
                </a:lnTo>
                <a:lnTo>
                  <a:pt x="84366" y="11899"/>
                </a:lnTo>
                <a:lnTo>
                  <a:pt x="0" y="0"/>
                </a:lnTo>
                <a:lnTo>
                  <a:pt x="41097" y="74625"/>
                </a:lnTo>
                <a:lnTo>
                  <a:pt x="41694" y="36474"/>
                </a:lnTo>
                <a:lnTo>
                  <a:pt x="2206193" y="1529232"/>
                </a:lnTo>
                <a:lnTo>
                  <a:pt x="2213406" y="1518780"/>
                </a:lnTo>
                <a:close/>
              </a:path>
              <a:path extrusionOk="0" h="1529714" w="2673350">
                <a:moveTo>
                  <a:pt x="2673083" y="1363459"/>
                </a:moveTo>
                <a:lnTo>
                  <a:pt x="2307679" y="127177"/>
                </a:lnTo>
                <a:lnTo>
                  <a:pt x="2344140" y="138480"/>
                </a:lnTo>
                <a:lnTo>
                  <a:pt x="2329789" y="123113"/>
                </a:lnTo>
                <a:lnTo>
                  <a:pt x="2286000" y="76200"/>
                </a:lnTo>
                <a:lnTo>
                  <a:pt x="2271064" y="160070"/>
                </a:lnTo>
                <a:lnTo>
                  <a:pt x="2295499" y="130784"/>
                </a:lnTo>
                <a:lnTo>
                  <a:pt x="2660904" y="1367053"/>
                </a:lnTo>
                <a:lnTo>
                  <a:pt x="2673083" y="136345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GB" sz="5906" u="none" cap="none" strike="noStrike">
                <a:solidFill>
                  <a:srgbClr val="FFC000"/>
                </a:solidFill>
                <a:latin typeface="Rockwell"/>
                <a:ea typeface="Rockwell"/>
                <a:cs typeface="Rockwell"/>
                <a:sym typeface="Rockwell"/>
              </a:rPr>
              <a:t>OpenMP API</a:t>
            </a:r>
            <a:endParaRPr b="0" i="0" sz="5906" u="none" cap="none" strike="noStrike">
              <a:solidFill>
                <a:srgbClr val="FFC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85" name="Google Shape;185;p10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GB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6458684" y="2674296"/>
            <a:ext cx="5550945" cy="25343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OpenMP API provides </a:t>
            </a:r>
            <a:r>
              <a:rPr b="1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directives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library functions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 variables 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create and control the execution of </a:t>
            </a:r>
            <a:r>
              <a:rPr b="1" i="0" lang="en-GB" sz="32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parallel programs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7" name="Google Shape;187;p10"/>
          <p:cNvGrpSpPr/>
          <p:nvPr/>
        </p:nvGrpSpPr>
        <p:grpSpPr>
          <a:xfrm>
            <a:off x="946353" y="1045309"/>
            <a:ext cx="5365671" cy="5375086"/>
            <a:chOff x="2110770" y="1045309"/>
            <a:chExt cx="5365671" cy="5375086"/>
          </a:xfrm>
        </p:grpSpPr>
        <p:pic>
          <p:nvPicPr>
            <p:cNvPr id="188" name="Google Shape;18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1816752">
              <a:off x="4656689" y="3150840"/>
              <a:ext cx="2713428" cy="535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5400000">
              <a:off x="3567882" y="5099807"/>
              <a:ext cx="2587597" cy="535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" name="Google Shape;190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2167714">
              <a:off x="2320732" y="3020057"/>
              <a:ext cx="2839648" cy="5357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1" name="Google Shape;191;p10"/>
            <p:cNvGrpSpPr/>
            <p:nvPr/>
          </p:nvGrpSpPr>
          <p:grpSpPr>
            <a:xfrm>
              <a:off x="2110770" y="1045309"/>
              <a:ext cx="5365671" cy="5365671"/>
              <a:chOff x="2110770" y="1045309"/>
              <a:chExt cx="5365671" cy="5365671"/>
            </a:xfrm>
          </p:grpSpPr>
          <p:sp>
            <p:nvSpPr>
              <p:cNvPr id="192" name="Google Shape;192;p10"/>
              <p:cNvSpPr/>
              <p:nvPr/>
            </p:nvSpPr>
            <p:spPr>
              <a:xfrm>
                <a:off x="2110770" y="1045309"/>
                <a:ext cx="5365671" cy="5365671"/>
              </a:xfrm>
              <a:custGeom>
                <a:rect b="b" l="l" r="r" t="t"/>
                <a:pathLst>
                  <a:path extrusionOk="0" h="19679" w="19679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noFill/>
              <a:ln cap="flat" cmpd="sng" w="38100">
                <a:solidFill>
                  <a:srgbClr val="FF2600"/>
                </a:solidFill>
                <a:prstDash val="solid"/>
                <a:miter lim="400000"/>
                <a:headEnd len="sm" w="sm" type="none"/>
                <a:tailEnd len="sm" w="sm" type="none"/>
              </a:ln>
              <a:effectLst>
                <a:outerShdw blurRad="38100" rotWithShape="0" dir="5400000" dist="25400">
                  <a:srgbClr val="000000">
                    <a:alpha val="49411"/>
                  </a:srgbClr>
                </a:outerShdw>
              </a:effectLst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12"/>
                  <a:buFont typeface="Arial"/>
                  <a:buNone/>
                </a:pPr>
                <a:r>
                  <a:t/>
                </a:r>
                <a:endParaRPr b="0" i="0" sz="2812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3" name="Google Shape;193;p10"/>
              <p:cNvSpPr/>
              <p:nvPr/>
            </p:nvSpPr>
            <p:spPr>
              <a:xfrm>
                <a:off x="3468557" y="1737065"/>
                <a:ext cx="2795638" cy="11801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5700" lIns="35700" spcFirstLastPara="1" rIns="35700" wrap="square" tIns="3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GB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Language Extensions/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GB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Compiler directives/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GB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Constructs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10"/>
              <p:cNvSpPr/>
              <p:nvPr/>
            </p:nvSpPr>
            <p:spPr>
              <a:xfrm>
                <a:off x="2376226" y="3774998"/>
                <a:ext cx="2176735" cy="8107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5700" lIns="35700" spcFirstLastPara="1" rIns="35700" wrap="square" tIns="3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GB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User-level runtime routines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10"/>
              <p:cNvSpPr/>
              <p:nvPr/>
            </p:nvSpPr>
            <p:spPr>
              <a:xfrm>
                <a:off x="3181794" y="5208644"/>
                <a:ext cx="1584890" cy="5913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5700" lIns="35700" spcFirstLastPara="1" rIns="35700" wrap="square" tIns="3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87"/>
                  <a:buFont typeface="Arial"/>
                  <a:buNone/>
                </a:pPr>
                <a:r>
                  <a:rPr b="0" i="0" lang="en-GB" sz="1687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header file &lt;omp.h&gt;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10"/>
              <p:cNvSpPr/>
              <p:nvPr/>
            </p:nvSpPr>
            <p:spPr>
              <a:xfrm>
                <a:off x="5007633" y="3967577"/>
                <a:ext cx="2176734" cy="8107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5700" lIns="35700" spcFirstLastPara="1" rIns="35700" wrap="square" tIns="3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GB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Environment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GB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Variables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GB" sz="4800" u="none" cap="none" strike="noStrike">
                <a:solidFill>
                  <a:srgbClr val="FFC000"/>
                </a:solidFill>
                <a:latin typeface="Rockwell"/>
                <a:ea typeface="Rockwell"/>
                <a:cs typeface="Rockwell"/>
                <a:sym typeface="Rockwell"/>
              </a:rPr>
              <a:t>OpenMP Core elements</a:t>
            </a:r>
            <a:endParaRPr b="0" i="0" sz="4800" u="none" cap="none" strike="noStrike">
              <a:solidFill>
                <a:srgbClr val="FFC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02" name="Google Shape;202;p11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GB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420416" y="1026284"/>
            <a:ext cx="11652247" cy="11801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i="0" lang="en-GB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</a:t>
            </a:r>
            <a:r>
              <a:rPr b="1" i="0" lang="en-GB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elements</a:t>
            </a:r>
            <a:r>
              <a:rPr b="1" i="0" lang="en-GB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GB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OpenMP are the constructs for </a:t>
            </a:r>
            <a:r>
              <a:rPr b="1" i="0" lang="en-GB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thread creation</a:t>
            </a:r>
            <a:r>
              <a:rPr b="0" i="0" lang="en-GB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i="0" lang="en-GB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workload distribution (work sharing)</a:t>
            </a:r>
            <a:r>
              <a:rPr b="0" i="0" lang="en-GB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i="0" lang="en-GB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environment variables</a:t>
            </a:r>
            <a:r>
              <a:rPr b="0" i="0" lang="en-GB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i="0" lang="en-GB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thread synchronization</a:t>
            </a:r>
            <a:r>
              <a:rPr b="0" i="0" lang="en-GB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i="0" lang="en-GB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user-level runtime routines </a:t>
            </a:r>
            <a:r>
              <a:rPr b="0" i="0" lang="en-GB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1" i="0" lang="en-GB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 variables</a:t>
            </a:r>
            <a:r>
              <a:rPr b="0" i="0" lang="en-GB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4676365" y="2191122"/>
            <a:ext cx="2605138" cy="447303"/>
          </a:xfrm>
          <a:prstGeom prst="rect">
            <a:avLst/>
          </a:prstGeom>
          <a:noFill/>
          <a:ln cap="flat" cmpd="sng" w="25400">
            <a:solidFill>
              <a:srgbClr val="FF93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71425" lIns="71425" spcFirstLastPara="1" rIns="71425" wrap="square" tIns="7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9"/>
              <a:buFont typeface="Arial"/>
              <a:buNone/>
            </a:pPr>
            <a:r>
              <a:rPr b="0" i="0" lang="en-GB" sz="196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OpenMP Core Elements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1724642" y="3557072"/>
            <a:ext cx="1453925" cy="663516"/>
          </a:xfrm>
          <a:prstGeom prst="rect">
            <a:avLst/>
          </a:prstGeom>
          <a:noFill/>
          <a:ln cap="flat" cmpd="sng" w="25400">
            <a:solidFill>
              <a:srgbClr val="FF93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71425" lIns="71425" spcFirstLastPara="1" rIns="71425" wrap="square" tIns="7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GB" sz="168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parallel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GB" sz="168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3666554" y="3544009"/>
            <a:ext cx="1275991" cy="403894"/>
          </a:xfrm>
          <a:prstGeom prst="rect">
            <a:avLst/>
          </a:prstGeom>
          <a:noFill/>
          <a:ln cap="flat" cmpd="sng" w="25400">
            <a:solidFill>
              <a:srgbClr val="FF93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71425" lIns="71425" spcFirstLastPara="1" rIns="71425" wrap="square" tIns="7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GB" sz="168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 sharing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5368285" y="3557072"/>
            <a:ext cx="1232711" cy="663516"/>
          </a:xfrm>
          <a:prstGeom prst="rect">
            <a:avLst/>
          </a:prstGeom>
          <a:noFill/>
          <a:ln cap="flat" cmpd="sng" w="25400">
            <a:solidFill>
              <a:srgbClr val="FF93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71425" lIns="71425" spcFirstLastPara="1" rIns="71425" wrap="square" tIns="7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GB" sz="168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GB" sz="168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6981062" y="3544009"/>
            <a:ext cx="1519648" cy="403894"/>
          </a:xfrm>
          <a:prstGeom prst="rect">
            <a:avLst/>
          </a:prstGeom>
          <a:noFill/>
          <a:ln cap="flat" cmpd="sng" w="25400">
            <a:solidFill>
              <a:srgbClr val="FF93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71425" lIns="71425" spcFirstLastPara="1" rIns="71425" wrap="square" tIns="7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GB" sz="168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synchronization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8707358" y="3557072"/>
            <a:ext cx="1724832" cy="663516"/>
          </a:xfrm>
          <a:prstGeom prst="rect">
            <a:avLst/>
          </a:prstGeom>
          <a:noFill/>
          <a:ln cap="flat" cmpd="sng" w="25400">
            <a:solidFill>
              <a:srgbClr val="FF93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71425" lIns="71425" spcFirstLastPara="1" rIns="71425" wrap="square" tIns="7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GB" sz="168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runtime functions,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GB" sz="168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 variables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1741531" y="4869244"/>
            <a:ext cx="1621994" cy="1118256"/>
          </a:xfrm>
          <a:prstGeom prst="rect">
            <a:avLst/>
          </a:prstGeom>
          <a:noFill/>
          <a:ln cap="flat" cmpd="sng" w="25400">
            <a:solidFill>
              <a:srgbClr val="FF93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71425" lIns="71425" spcFirstLastPara="1" rIns="71425" wrap="square" tIns="7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</a:pPr>
            <a:r>
              <a:rPr b="0" i="0" lang="en-GB" sz="126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governs flow of control in the program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</a:pPr>
            <a:r>
              <a:t/>
            </a:r>
            <a:endParaRPr b="0" i="0" sz="1266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</a:pPr>
            <a:r>
              <a:rPr b="0" i="0" lang="en-GB" sz="1266" u="none" cap="none" strike="noStrike">
                <a:solidFill>
                  <a:srgbClr val="0433FF"/>
                </a:solidFill>
                <a:latin typeface="Consolas"/>
                <a:ea typeface="Consolas"/>
                <a:cs typeface="Consolas"/>
                <a:sym typeface="Consolas"/>
              </a:rPr>
              <a:t>parallel</a:t>
            </a:r>
            <a:r>
              <a:rPr b="0" i="0" lang="en-GB" sz="1266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directive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3506820" y="4872981"/>
            <a:ext cx="1621995" cy="1507850"/>
          </a:xfrm>
          <a:prstGeom prst="rect">
            <a:avLst/>
          </a:prstGeom>
          <a:noFill/>
          <a:ln cap="flat" cmpd="sng" w="25400">
            <a:solidFill>
              <a:srgbClr val="FF93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71425" lIns="71425" spcFirstLastPara="1" rIns="71425" wrap="square" tIns="7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</a:pPr>
            <a:r>
              <a:rPr b="0" i="0" lang="en-GB" sz="126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distributes work among threads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</a:pPr>
            <a:r>
              <a:t/>
            </a:r>
            <a:endParaRPr b="0" i="0" sz="1266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</a:pPr>
            <a:r>
              <a:rPr b="0" i="0" lang="en-GB" sz="1266" u="none" cap="none" strike="noStrike">
                <a:solidFill>
                  <a:srgbClr val="0433FF"/>
                </a:solidFill>
                <a:latin typeface="Consolas"/>
                <a:ea typeface="Consolas"/>
                <a:cs typeface="Consolas"/>
                <a:sym typeface="Consolas"/>
              </a:rPr>
              <a:t>do/parallel 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</a:pPr>
            <a:r>
              <a:rPr b="0" i="0" lang="en-GB" sz="1266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</a:pPr>
            <a:r>
              <a:rPr b="0" i="0" lang="en-GB" sz="1266" u="none" cap="none" strike="noStrike">
                <a:solidFill>
                  <a:srgbClr val="0433FF"/>
                </a:solidFill>
                <a:latin typeface="Consolas"/>
                <a:ea typeface="Consolas"/>
                <a:cs typeface="Consolas"/>
                <a:sym typeface="Consolas"/>
              </a:rPr>
              <a:t>section directives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5352806" y="4966742"/>
            <a:ext cx="1422449" cy="1313053"/>
          </a:xfrm>
          <a:prstGeom prst="rect">
            <a:avLst/>
          </a:prstGeom>
          <a:noFill/>
          <a:ln cap="flat" cmpd="sng" w="25400">
            <a:solidFill>
              <a:srgbClr val="FF93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71425" lIns="71425" spcFirstLastPara="1" rIns="71425" wrap="square" tIns="7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</a:pPr>
            <a:r>
              <a:rPr b="0" i="0" lang="en-GB" sz="126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</a:pPr>
            <a:r>
              <a:rPr b="0" i="0" lang="en-GB" sz="126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</a:pPr>
            <a:r>
              <a:t/>
            </a:r>
            <a:endParaRPr b="0" i="0" sz="1266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</a:pPr>
            <a:r>
              <a:rPr b="0" i="0" lang="en-GB" sz="1266" u="none" cap="none" strike="noStrike">
                <a:solidFill>
                  <a:srgbClr val="0433FF"/>
                </a:solidFill>
                <a:latin typeface="Consolas"/>
                <a:ea typeface="Consolas"/>
                <a:cs typeface="Consolas"/>
                <a:sym typeface="Consolas"/>
              </a:rPr>
              <a:t>shared</a:t>
            </a:r>
            <a:r>
              <a:rPr b="0" i="0" lang="en-GB" sz="1266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and </a:t>
            </a:r>
            <a:r>
              <a:rPr b="0" i="0" lang="en-GB" sz="1266" u="none" cap="none" strike="noStrike">
                <a:solidFill>
                  <a:srgbClr val="0433FF"/>
                </a:solidFill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b="0" i="0" lang="en-GB" sz="1266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clauses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6929889" y="4966743"/>
            <a:ext cx="1621994" cy="1313053"/>
          </a:xfrm>
          <a:prstGeom prst="rect">
            <a:avLst/>
          </a:prstGeom>
          <a:noFill/>
          <a:ln cap="flat" cmpd="sng" w="25400">
            <a:solidFill>
              <a:srgbClr val="FF93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71425" lIns="71425" spcFirstLastPara="1" rIns="71425" wrap="square" tIns="7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</a:pPr>
            <a:r>
              <a:rPr b="0" i="0" lang="en-GB" sz="126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coordinates thread execution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</a:pPr>
            <a:r>
              <a:t/>
            </a:r>
            <a:endParaRPr b="0" i="0" sz="1266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</a:pPr>
            <a:r>
              <a:rPr b="0" i="0" lang="en-GB" sz="1266" u="none" cap="none" strike="noStrike">
                <a:solidFill>
                  <a:srgbClr val="0433FF"/>
                </a:solidFill>
                <a:latin typeface="Consolas"/>
                <a:ea typeface="Consolas"/>
                <a:cs typeface="Consolas"/>
                <a:sym typeface="Consolas"/>
              </a:rPr>
              <a:t>critical</a:t>
            </a:r>
            <a:r>
              <a:rPr b="0" i="0" lang="en-GB" sz="1266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GB" sz="1266" u="none" cap="none" strike="noStrike">
                <a:solidFill>
                  <a:srgbClr val="0433FF"/>
                </a:solidFill>
                <a:latin typeface="Consolas"/>
                <a:ea typeface="Consolas"/>
                <a:cs typeface="Consolas"/>
                <a:sym typeface="Consolas"/>
              </a:rPr>
              <a:t>atomic</a:t>
            </a:r>
            <a:r>
              <a:rPr b="0" i="0" lang="en-GB" sz="1266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and </a:t>
            </a:r>
            <a:r>
              <a:rPr b="0" i="0" lang="en-GB" sz="1266" u="none" cap="none" strike="noStrike">
                <a:solidFill>
                  <a:srgbClr val="0433FF"/>
                </a:solidFill>
                <a:latin typeface="Consolas"/>
                <a:ea typeface="Consolas"/>
                <a:cs typeface="Consolas"/>
                <a:sym typeface="Consolas"/>
              </a:rPr>
              <a:t>barrier</a:t>
            </a:r>
            <a:r>
              <a:rPr b="0" i="0" lang="en-GB" sz="1266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directives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8695178" y="4966743"/>
            <a:ext cx="2297366" cy="1507850"/>
          </a:xfrm>
          <a:prstGeom prst="rect">
            <a:avLst/>
          </a:prstGeom>
          <a:noFill/>
          <a:ln cap="flat" cmpd="sng" w="25400">
            <a:solidFill>
              <a:srgbClr val="FF93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71425" lIns="71425" spcFirstLastPara="1" rIns="71425" wrap="square" tIns="7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</a:pPr>
            <a:r>
              <a:rPr b="0" i="0" lang="en-GB" sz="126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runtime environment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</a:pPr>
            <a:r>
              <a:t/>
            </a:r>
            <a:endParaRPr b="0" i="0" sz="1266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</a:pPr>
            <a:r>
              <a:rPr b="0" i="0" lang="en-GB" sz="1266" u="none" cap="none" strike="noStrike">
                <a:solidFill>
                  <a:srgbClr val="0433FF"/>
                </a:solidFill>
                <a:latin typeface="Consolas"/>
                <a:ea typeface="Consolas"/>
                <a:cs typeface="Consolas"/>
                <a:sym typeface="Consolas"/>
              </a:rPr>
              <a:t>omp_set_num_threads()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</a:pPr>
            <a:r>
              <a:rPr b="0" i="0" lang="en-GB" sz="1266" u="none" cap="none" strike="noStrike">
                <a:solidFill>
                  <a:srgbClr val="0433FF"/>
                </a:solidFill>
                <a:latin typeface="Consolas"/>
                <a:ea typeface="Consolas"/>
                <a:cs typeface="Consolas"/>
                <a:sym typeface="Consolas"/>
              </a:rPr>
              <a:t>omp_get_thread_num()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</a:pPr>
            <a:r>
              <a:t/>
            </a:r>
            <a:endParaRPr b="0" i="0" sz="1266" u="none" cap="none" strike="noStrike">
              <a:solidFill>
                <a:srgbClr val="0433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</a:pPr>
            <a:r>
              <a:rPr b="0" i="0" lang="en-GB" sz="1266" u="none" cap="none" strike="noStrike">
                <a:solidFill>
                  <a:srgbClr val="0433FF"/>
                </a:solidFill>
                <a:latin typeface="Consolas"/>
                <a:ea typeface="Consolas"/>
                <a:cs typeface="Consolas"/>
                <a:sym typeface="Consolas"/>
              </a:rPr>
              <a:t>OMP_NUM_THREADS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</a:pPr>
            <a:r>
              <a:rPr b="0" i="0" lang="en-GB" sz="1266" u="none" cap="none" strike="noStrike">
                <a:solidFill>
                  <a:srgbClr val="0433FF"/>
                </a:solidFill>
                <a:latin typeface="Consolas"/>
                <a:ea typeface="Consolas"/>
                <a:cs typeface="Consolas"/>
                <a:sym typeface="Consolas"/>
              </a:rPr>
              <a:t>OMP_SCHEDULE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" name="Google Shape;215;p11"/>
          <p:cNvCxnSpPr/>
          <p:nvPr/>
        </p:nvCxnSpPr>
        <p:spPr>
          <a:xfrm flipH="1" rot="10800000">
            <a:off x="5971995" y="2650062"/>
            <a:ext cx="1" cy="901899"/>
          </a:xfrm>
          <a:prstGeom prst="straightConnector1">
            <a:avLst/>
          </a:prstGeom>
          <a:noFill/>
          <a:ln cap="flat" cmpd="sng" w="25400">
            <a:solidFill>
              <a:srgbClr val="FF9300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216" name="Google Shape;216;p11"/>
          <p:cNvCxnSpPr/>
          <p:nvPr/>
        </p:nvCxnSpPr>
        <p:spPr>
          <a:xfrm>
            <a:off x="2505376" y="3041720"/>
            <a:ext cx="7063436" cy="1"/>
          </a:xfrm>
          <a:prstGeom prst="straightConnector1">
            <a:avLst/>
          </a:prstGeom>
          <a:noFill/>
          <a:ln cap="flat" cmpd="sng" w="25400">
            <a:solidFill>
              <a:srgbClr val="FF9300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217" name="Google Shape;217;p11"/>
          <p:cNvCxnSpPr/>
          <p:nvPr/>
        </p:nvCxnSpPr>
        <p:spPr>
          <a:xfrm flipH="1" rot="10800000">
            <a:off x="2495995" y="3025109"/>
            <a:ext cx="1" cy="526852"/>
          </a:xfrm>
          <a:prstGeom prst="straightConnector1">
            <a:avLst/>
          </a:prstGeom>
          <a:noFill/>
          <a:ln cap="flat" cmpd="sng" w="25400">
            <a:solidFill>
              <a:srgbClr val="FF9300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218" name="Google Shape;218;p11"/>
          <p:cNvCxnSpPr/>
          <p:nvPr/>
        </p:nvCxnSpPr>
        <p:spPr>
          <a:xfrm flipH="1" rot="10800000">
            <a:off x="4317817" y="3024559"/>
            <a:ext cx="1" cy="526852"/>
          </a:xfrm>
          <a:prstGeom prst="straightConnector1">
            <a:avLst/>
          </a:prstGeom>
          <a:noFill/>
          <a:ln cap="flat" cmpd="sng" w="25400">
            <a:solidFill>
              <a:srgbClr val="FF9300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219" name="Google Shape;219;p11"/>
          <p:cNvCxnSpPr/>
          <p:nvPr/>
        </p:nvCxnSpPr>
        <p:spPr>
          <a:xfrm flipH="1" rot="10800000">
            <a:off x="7746399" y="3027721"/>
            <a:ext cx="1" cy="526852"/>
          </a:xfrm>
          <a:prstGeom prst="straightConnector1">
            <a:avLst/>
          </a:prstGeom>
          <a:noFill/>
          <a:ln cap="flat" cmpd="sng" w="25400">
            <a:solidFill>
              <a:srgbClr val="FF9300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220" name="Google Shape;220;p11"/>
          <p:cNvCxnSpPr/>
          <p:nvPr/>
        </p:nvCxnSpPr>
        <p:spPr>
          <a:xfrm flipH="1" rot="10800000">
            <a:off x="9574500" y="3024559"/>
            <a:ext cx="1" cy="526852"/>
          </a:xfrm>
          <a:prstGeom prst="straightConnector1">
            <a:avLst/>
          </a:prstGeom>
          <a:noFill/>
          <a:ln cap="flat" cmpd="sng" w="25400">
            <a:solidFill>
              <a:srgbClr val="FF9300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221" name="Google Shape;221;p11"/>
          <p:cNvCxnSpPr/>
          <p:nvPr/>
        </p:nvCxnSpPr>
        <p:spPr>
          <a:xfrm flipH="1" rot="10800000">
            <a:off x="2495996" y="4212204"/>
            <a:ext cx="1" cy="678657"/>
          </a:xfrm>
          <a:prstGeom prst="straightConnector1">
            <a:avLst/>
          </a:prstGeom>
          <a:noFill/>
          <a:ln cap="flat" cmpd="sng" w="25400">
            <a:solidFill>
              <a:srgbClr val="FF9300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222" name="Google Shape;222;p11"/>
          <p:cNvCxnSpPr/>
          <p:nvPr/>
        </p:nvCxnSpPr>
        <p:spPr>
          <a:xfrm flipH="1" rot="10800000">
            <a:off x="4317817" y="3940701"/>
            <a:ext cx="1" cy="1053904"/>
          </a:xfrm>
          <a:prstGeom prst="straightConnector1">
            <a:avLst/>
          </a:prstGeom>
          <a:noFill/>
          <a:ln cap="flat" cmpd="sng" w="25400">
            <a:solidFill>
              <a:srgbClr val="FF9300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223" name="Google Shape;223;p11"/>
          <p:cNvCxnSpPr/>
          <p:nvPr/>
        </p:nvCxnSpPr>
        <p:spPr>
          <a:xfrm flipH="1" rot="10800000">
            <a:off x="6000063" y="4224846"/>
            <a:ext cx="1" cy="753505"/>
          </a:xfrm>
          <a:prstGeom prst="straightConnector1">
            <a:avLst/>
          </a:prstGeom>
          <a:noFill/>
          <a:ln cap="flat" cmpd="sng" w="25400">
            <a:solidFill>
              <a:srgbClr val="FF9300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224" name="Google Shape;224;p11"/>
          <p:cNvCxnSpPr/>
          <p:nvPr/>
        </p:nvCxnSpPr>
        <p:spPr>
          <a:xfrm flipH="1" rot="10800000">
            <a:off x="7747440" y="3940701"/>
            <a:ext cx="1" cy="1053905"/>
          </a:xfrm>
          <a:prstGeom prst="straightConnector1">
            <a:avLst/>
          </a:prstGeom>
          <a:noFill/>
          <a:ln cap="flat" cmpd="sng" w="25400">
            <a:solidFill>
              <a:srgbClr val="FF9300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225" name="Google Shape;225;p11"/>
          <p:cNvCxnSpPr/>
          <p:nvPr/>
        </p:nvCxnSpPr>
        <p:spPr>
          <a:xfrm flipH="1" rot="10800000">
            <a:off x="9574500" y="4231568"/>
            <a:ext cx="1" cy="740062"/>
          </a:xfrm>
          <a:prstGeom prst="straightConnector1">
            <a:avLst/>
          </a:prstGeom>
          <a:noFill/>
          <a:ln cap="flat" cmpd="sng" w="25400">
            <a:solidFill>
              <a:srgbClr val="FF9300"/>
            </a:solidFill>
            <a:prstDash val="solid"/>
            <a:miter lim="4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OpenMP Directive</a:t>
            </a:r>
            <a:endParaRPr/>
          </a:p>
        </p:txBody>
      </p:sp>
      <p:sp>
        <p:nvSpPr>
          <p:cNvPr id="231" name="Google Shape;231;p12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GB"/>
              <a:t>General form of an OpenMP directive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/>
          </a:p>
          <a:p>
            <a:pPr indent="-139683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/>
          </a:p>
          <a:p>
            <a:pPr indent="-139683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GB"/>
              <a:t>Parallel construct</a:t>
            </a:r>
            <a:endParaRPr/>
          </a:p>
          <a:p>
            <a:pPr indent="-139683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/>
          </a:p>
          <a:p>
            <a:pPr indent="-139683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232" name="Google Shape;232;p12"/>
          <p:cNvSpPr/>
          <p:nvPr/>
        </p:nvSpPr>
        <p:spPr>
          <a:xfrm>
            <a:off x="263906" y="1634602"/>
            <a:ext cx="11760200" cy="2154436"/>
          </a:xfrm>
          <a:prstGeom prst="rect">
            <a:avLst/>
          </a:prstGeom>
          <a:solidFill>
            <a:srgbClr val="F1FEC9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#pragma omp </a:t>
            </a:r>
            <a:r>
              <a:rPr b="1" i="1" lang="en-GB" sz="2400" u="none" cap="none" strike="noStrike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directive-name</a:t>
            </a:r>
            <a:r>
              <a:rPr b="0" i="0" lang="en-GB" sz="2400" u="none" cap="none" strike="noStrike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1" lang="en-GB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[clause[[,] clause]...] new-line</a:t>
            </a:r>
            <a:endParaRPr b="0" i="1" sz="2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GB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Directive-name includes: </a:t>
            </a:r>
            <a:r>
              <a:rPr b="1" i="1" lang="en-GB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‘parallel’, ‘for’, ‘atomic’, ‘critical’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GB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Clause:</a:t>
            </a:r>
            <a:r>
              <a:rPr b="1" i="1" lang="en-GB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Separated by comma, includes ‘private’, ‘share’, ‘reduction’, ‘if’, ‘num_threads’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GB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New-line: Makes the end of the pragma statement</a:t>
            </a:r>
            <a:endParaRPr b="0" i="1" sz="2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263906" y="4581128"/>
            <a:ext cx="11760200" cy="1803401"/>
          </a:xfrm>
          <a:prstGeom prst="rect">
            <a:avLst/>
          </a:prstGeom>
          <a:solidFill>
            <a:srgbClr val="F1FEC9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#pragma omp </a:t>
            </a:r>
            <a:r>
              <a:rPr b="1" i="1" lang="en-GB" sz="2400" u="none" cap="none" strike="noStrike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parallel</a:t>
            </a:r>
            <a:r>
              <a:rPr b="0" i="0" lang="en-GB" sz="2400" u="none" cap="none" strike="noStrike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1" lang="en-GB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[clause[[,] clause]...]</a:t>
            </a:r>
            <a:endParaRPr b="0" i="0" sz="2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/* parallel section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Pthread Hello World example</a:t>
            </a:r>
            <a:endParaRPr/>
          </a:p>
        </p:txBody>
      </p:sp>
      <p:pic>
        <p:nvPicPr>
          <p:cNvPr id="239" name="Google Shape;23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183" y="1052737"/>
            <a:ext cx="8379110" cy="5760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OpenMP Hello World example</a:t>
            </a:r>
            <a:endParaRPr/>
          </a:p>
        </p:txBody>
      </p:sp>
      <p:pic>
        <p:nvPicPr>
          <p:cNvPr id="245" name="Google Shape;24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3512" y="1412777"/>
            <a:ext cx="8570445" cy="4248471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4"/>
          <p:cNvSpPr/>
          <p:nvPr/>
        </p:nvSpPr>
        <p:spPr>
          <a:xfrm>
            <a:off x="7032104" y="4365104"/>
            <a:ext cx="2736304" cy="50405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5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5555"/>
              <a:buNone/>
            </a:pPr>
            <a:r>
              <a:rPr lang="en-GB"/>
              <a:t>OpenMP Hello World with specified threads</a:t>
            </a:r>
            <a:endParaRPr/>
          </a:p>
        </p:txBody>
      </p:sp>
      <p:pic>
        <p:nvPicPr>
          <p:cNvPr id="252" name="Google Shape;25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3512" y="1412777"/>
            <a:ext cx="8570445" cy="4248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6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Compiler directives</a:t>
            </a:r>
            <a:endParaRPr/>
          </a:p>
        </p:txBody>
      </p:sp>
      <p:sp>
        <p:nvSpPr>
          <p:cNvPr id="258" name="Google Shape;258;p16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GB"/>
              <a:t>Parallel Region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GB"/>
              <a:t>#pragma omp parallel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GB"/>
              <a:t>Creates a group of threads (forks) that execute the enclosed block of code in parallel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GB"/>
              <a:t>Syntax</a:t>
            </a:r>
            <a:endParaRPr/>
          </a:p>
        </p:txBody>
      </p:sp>
      <p:pic>
        <p:nvPicPr>
          <p:cNvPr id="259" name="Google Shape;25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9456" y="3861049"/>
            <a:ext cx="9951996" cy="17281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7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Compiler directives</a:t>
            </a:r>
            <a:endParaRPr/>
          </a:p>
        </p:txBody>
      </p:sp>
      <p:sp>
        <p:nvSpPr>
          <p:cNvPr id="265" name="Google Shape;265;p17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GB"/>
              <a:t>For Loop Parallelization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GB"/>
              <a:t>#pragma omp for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GB"/>
              <a:t>Distributes loop iterations among the team of threads for parallel execution.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GB"/>
              <a:t>Syntax</a:t>
            </a:r>
            <a:endParaRPr/>
          </a:p>
        </p:txBody>
      </p:sp>
      <p:pic>
        <p:nvPicPr>
          <p:cNvPr id="266" name="Google Shape;26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3472" y="3861049"/>
            <a:ext cx="8352928" cy="2649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8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Compiler directives</a:t>
            </a:r>
            <a:endParaRPr/>
          </a:p>
        </p:txBody>
      </p:sp>
      <p:sp>
        <p:nvSpPr>
          <p:cNvPr id="272" name="Google Shape;272;p18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GB"/>
              <a:t>Sections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GB"/>
              <a:t>#pragma omp sections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GB"/>
              <a:t>Divides code into sections, each executed by one thread in parallel.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GB"/>
              <a:t>Syntax</a:t>
            </a:r>
            <a:endParaRPr/>
          </a:p>
        </p:txBody>
      </p:sp>
      <p:pic>
        <p:nvPicPr>
          <p:cNvPr id="273" name="Google Shape;27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5600" y="2675092"/>
            <a:ext cx="7200800" cy="4002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9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Compiler directives</a:t>
            </a:r>
            <a:endParaRPr/>
          </a:p>
        </p:txBody>
      </p:sp>
      <p:sp>
        <p:nvSpPr>
          <p:cNvPr id="279" name="Google Shape;279;p19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GB"/>
              <a:t>Single Execution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GB"/>
              <a:t>#pragma omp single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GB"/>
              <a:t>Specifies that the enclosed block should be executed by a single thread, avoiding duplication of work.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GB"/>
              <a:t>Syntax</a:t>
            </a:r>
            <a:endParaRPr/>
          </a:p>
          <a:p>
            <a:pPr indent="0" lvl="1" marL="45717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/>
          </a:p>
        </p:txBody>
      </p:sp>
      <p:pic>
        <p:nvPicPr>
          <p:cNvPr id="280" name="Google Shape;2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1584" y="3356991"/>
            <a:ext cx="7704856" cy="3140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0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Compiler directives</a:t>
            </a:r>
            <a:endParaRPr/>
          </a:p>
        </p:txBody>
      </p:sp>
      <p:sp>
        <p:nvSpPr>
          <p:cNvPr id="286" name="Google Shape;286;p20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GB"/>
              <a:t>Master Execution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GB"/>
              <a:t>#pragma omp master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GB"/>
              <a:t>Specifies that the enclosed block should be executed by the master thread (thread with ID 0).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GB"/>
              <a:t>Syntax</a:t>
            </a:r>
            <a:endParaRPr/>
          </a:p>
          <a:p>
            <a:pPr indent="0" lvl="1" marL="45717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/>
          </a:p>
        </p:txBody>
      </p:sp>
      <p:pic>
        <p:nvPicPr>
          <p:cNvPr id="287" name="Google Shape;2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5600" y="3212976"/>
            <a:ext cx="7632848" cy="3313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1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Compiler directives</a:t>
            </a:r>
            <a:endParaRPr/>
          </a:p>
        </p:txBody>
      </p:sp>
      <p:sp>
        <p:nvSpPr>
          <p:cNvPr id="293" name="Google Shape;293;p21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GB"/>
              <a:t>Critical Section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GB"/>
              <a:t>#pragma omp critical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GB"/>
              <a:t>Specifies a critical section, ensuring that only one thread at a time executes the enclosed block.(Applies to a block of codes(critical section)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GB"/>
              <a:t>Syntax</a:t>
            </a:r>
            <a:endParaRPr/>
          </a:p>
          <a:p>
            <a:pPr indent="0" lvl="1" marL="45717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/>
          </a:p>
          <a:p>
            <a:pPr indent="0" lvl="1" marL="45717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/>
          </a:p>
        </p:txBody>
      </p:sp>
      <p:pic>
        <p:nvPicPr>
          <p:cNvPr id="294" name="Google Shape;29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5480" y="4086688"/>
            <a:ext cx="9433048" cy="255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2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Compiler directives</a:t>
            </a:r>
            <a:endParaRPr/>
          </a:p>
        </p:txBody>
      </p:sp>
      <p:sp>
        <p:nvSpPr>
          <p:cNvPr id="300" name="Google Shape;300;p22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GB"/>
              <a:t>Atomic Operation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GB"/>
              <a:t>#pragma omp atomic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GB"/>
              <a:t>Specifies a critical section, ensuring that only one thread at a time executes the enclosed block.(Applies to a single operation on shared variable)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GB"/>
              <a:t>Syntax</a:t>
            </a:r>
            <a:endParaRPr/>
          </a:p>
          <a:p>
            <a:pPr indent="0" lvl="1" marL="45717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/>
          </a:p>
          <a:p>
            <a:pPr indent="0" lvl="1" marL="45717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/>
          </a:p>
        </p:txBody>
      </p:sp>
      <p:pic>
        <p:nvPicPr>
          <p:cNvPr id="301" name="Google Shape;30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9576" y="3526811"/>
            <a:ext cx="8496944" cy="3331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3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Compiler directives</a:t>
            </a:r>
            <a:endParaRPr/>
          </a:p>
        </p:txBody>
      </p:sp>
      <p:sp>
        <p:nvSpPr>
          <p:cNvPr id="307" name="Google Shape;307;p23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GB"/>
              <a:t>OpenMP Barrier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GB"/>
              <a:t>#pragma omp barrier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GB"/>
              <a:t>When barrier encountered, all the threads in the team must reach this point(barrier) before any of them can continue execution beyond the barrier.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GB"/>
              <a:t>Syntax</a:t>
            </a:r>
            <a:endParaRPr/>
          </a:p>
          <a:p>
            <a:pPr indent="0" lvl="1" marL="45717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/>
          </a:p>
          <a:p>
            <a:pPr indent="0" lvl="1" marL="45717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/>
          </a:p>
        </p:txBody>
      </p:sp>
      <p:pic>
        <p:nvPicPr>
          <p:cNvPr id="308" name="Google Shape;30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5480" y="4221088"/>
            <a:ext cx="9086850" cy="215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4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Compiler directives: Clause</a:t>
            </a:r>
            <a:endParaRPr/>
          </a:p>
        </p:txBody>
      </p:sp>
      <p:sp>
        <p:nvSpPr>
          <p:cNvPr id="314" name="Google Shape;314;p24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1" lang="en-GB"/>
              <a:t>Additional statements </a:t>
            </a:r>
            <a:r>
              <a:rPr lang="en-GB"/>
              <a:t>or </a:t>
            </a:r>
            <a:r>
              <a:rPr b="1" lang="en-GB"/>
              <a:t>modifier</a:t>
            </a:r>
            <a:r>
              <a:rPr lang="en-GB"/>
              <a:t> used in conjunction with a compiler directive to provide additional information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GB"/>
              <a:t>‘private’ clause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i="1" lang="en-GB"/>
              <a:t>#pragma omp parallel private(</a:t>
            </a:r>
            <a:r>
              <a:rPr b="1" i="1" lang="en-GB"/>
              <a:t>private_variable</a:t>
            </a:r>
            <a:r>
              <a:rPr i="1" lang="en-GB"/>
              <a:t>)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GB"/>
              <a:t>Ensures that each thread has its private copy of the variable ‘private_variable’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GB"/>
              <a:t>‘shared’ clause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GB"/>
              <a:t>#pragma omp parallel shared(</a:t>
            </a:r>
            <a:r>
              <a:rPr b="1" lang="en-GB"/>
              <a:t>shared_variable</a:t>
            </a:r>
            <a:r>
              <a:rPr lang="en-GB"/>
              <a:t>)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GB"/>
              <a:t>The shared(shared_variable) clause indicates that the variable ‘shared_variable’ is shared among all threads in the parallel region.</a:t>
            </a:r>
            <a:endParaRPr/>
          </a:p>
          <a:p>
            <a:pPr indent="-1079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/>
          </a:p>
          <a:p>
            <a:pPr indent="-1079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/>
          </a:p>
          <a:p>
            <a:pPr indent="-1079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/>
          </a:p>
          <a:p>
            <a:pPr indent="-1079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i="1"/>
          </a:p>
          <a:p>
            <a:pPr indent="-1079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i="1"/>
          </a:p>
          <a:p>
            <a:pPr indent="-1079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/>
          </a:p>
          <a:p>
            <a:pPr indent="-1079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5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Compiler directives: Clause</a:t>
            </a:r>
            <a:endParaRPr/>
          </a:p>
        </p:txBody>
      </p:sp>
      <p:sp>
        <p:nvSpPr>
          <p:cNvPr id="320" name="Google Shape;320;p25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GB"/>
              <a:t>‘reduction’ clause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i="1" lang="en-GB"/>
              <a:t>#pragma omp parallel for reduction(operator:variable)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i="1" lang="en-GB"/>
              <a:t>Eg #pragma omp parallel for reduction(+:total)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GB"/>
              <a:t>Operator: arithmetic, logical, bitwise etc.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GB"/>
              <a:t>The reduction(+:</a:t>
            </a:r>
            <a:r>
              <a:rPr b="1" lang="en-GB"/>
              <a:t>total</a:t>
            </a:r>
            <a:r>
              <a:rPr lang="en-GB"/>
              <a:t>) clause specifies that the variable </a:t>
            </a:r>
            <a:r>
              <a:rPr b="1" lang="en-GB"/>
              <a:t>total</a:t>
            </a:r>
            <a:r>
              <a:rPr lang="en-GB"/>
              <a:t> is a reduction variable, and </a:t>
            </a:r>
            <a:r>
              <a:rPr b="1" lang="en-GB"/>
              <a:t>private copies </a:t>
            </a:r>
            <a:r>
              <a:rPr lang="en-GB"/>
              <a:t>of total are created for each thread.</a:t>
            </a:r>
            <a:endParaRPr/>
          </a:p>
          <a:p>
            <a:pPr indent="0" lvl="1" marL="45717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/>
          </a:p>
          <a:p>
            <a:pPr indent="-1079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i="1"/>
          </a:p>
          <a:p>
            <a:pPr indent="-1079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i="1"/>
          </a:p>
          <a:p>
            <a:pPr indent="-1079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/>
          </a:p>
          <a:p>
            <a:pPr indent="-1079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/>
          </a:p>
          <a:p>
            <a:pPr indent="-1079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i="1"/>
          </a:p>
          <a:p>
            <a:pPr indent="-1079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i="1"/>
          </a:p>
          <a:p>
            <a:pPr indent="-1079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/>
          </a:p>
          <a:p>
            <a:pPr indent="-1079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/>
          </a:p>
        </p:txBody>
      </p:sp>
      <p:pic>
        <p:nvPicPr>
          <p:cNvPr id="321" name="Google Shape;32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9699" y="4459562"/>
            <a:ext cx="4333875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6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Compiler directives: Clause</a:t>
            </a:r>
            <a:endParaRPr/>
          </a:p>
        </p:txBody>
      </p:sp>
      <p:sp>
        <p:nvSpPr>
          <p:cNvPr id="327" name="Google Shape;327;p26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GB"/>
              <a:t>‘if’ clause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i="1" lang="en-GB"/>
              <a:t>#pragma omp parallel if(condition)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i="1" lang="en-GB"/>
              <a:t>Eg #pragma omp parallel if(N &gt; 50)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GB"/>
              <a:t>The if(N &gt; 50) clause specifies that the parallel region should be executed only if the condition N &gt; 50 is true.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i="1" lang="en-GB"/>
              <a:t>‘num_threads’ clause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i="1" lang="en-GB"/>
              <a:t>#pragma omp parallel num_threads(Threads)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i="1" lang="en-GB"/>
              <a:t>#pragma omp parallel num_threads(4)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GB"/>
              <a:t>The num_threads(4) clause specifies that the parallel region should use only 4 threads.</a:t>
            </a:r>
            <a:endParaRPr/>
          </a:p>
          <a:p>
            <a:pPr indent="-1079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i="1"/>
          </a:p>
          <a:p>
            <a:pPr indent="-1079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/>
          </a:p>
          <a:p>
            <a:pPr indent="0" lvl="1" marL="457177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/>
          </a:p>
          <a:p>
            <a:pPr indent="-1079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i="1"/>
          </a:p>
          <a:p>
            <a:pPr indent="-1079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i="1"/>
          </a:p>
          <a:p>
            <a:pPr indent="-1079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/>
          </a:p>
          <a:p>
            <a:pPr indent="-1079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/>
          </a:p>
          <a:p>
            <a:pPr indent="-1079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i="1"/>
          </a:p>
          <a:p>
            <a:pPr indent="-1079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i="1"/>
          </a:p>
          <a:p>
            <a:pPr indent="-1079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/>
          </a:p>
          <a:p>
            <a:pPr indent="-1079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7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Runtime Calls/Functions</a:t>
            </a:r>
            <a:endParaRPr/>
          </a:p>
        </p:txBody>
      </p:sp>
      <p:sp>
        <p:nvSpPr>
          <p:cNvPr id="333" name="Google Shape;333;p27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GB" sz="2400"/>
              <a:t>Functions provided by the OpenMP runtime library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i="1" lang="en-GB" sz="2400"/>
              <a:t>omp_get_num_threads()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GB" sz="2400"/>
              <a:t>Retrieves the number of threads in the current parallel region.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i="1" lang="en-GB" sz="2400"/>
              <a:t>omp_get_thread_num()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GB" sz="2400"/>
              <a:t>Retrieves the thread number of the calling thread in the current parallel region.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i="1" lang="en-GB" sz="2400"/>
              <a:t>omp_set_num_threads()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GB" sz="2400"/>
              <a:t>Sets the number of threads to be used in subsequent parallel regions.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i="1" lang="en-GB" sz="2400"/>
              <a:t>omp_in_parallel()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GB" sz="2400"/>
              <a:t>It returns a nonzero value (true) if the calling thread is inside a parallel region, and 0 (false) otherwise.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i="1" lang="en-GB" sz="2400"/>
              <a:t>omp_get_num_procs()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GB" sz="2400"/>
              <a:t>It provides information about the total number of hardware processors that OpenMP can potentially utilize.</a:t>
            </a:r>
            <a:endParaRPr i="1" sz="2400"/>
          </a:p>
          <a:p>
            <a:pPr indent="-133336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i="1" sz="2400"/>
          </a:p>
          <a:p>
            <a:pPr indent="-133336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sz="2400"/>
          </a:p>
          <a:p>
            <a:pPr indent="0" lvl="1" marL="457177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sz="2400"/>
          </a:p>
          <a:p>
            <a:pPr indent="-133336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i="1" sz="2400"/>
          </a:p>
          <a:p>
            <a:pPr indent="-133336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i="1" sz="2400"/>
          </a:p>
          <a:p>
            <a:pPr indent="-133336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sz="2400"/>
          </a:p>
          <a:p>
            <a:pPr indent="-133336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sz="2400"/>
          </a:p>
          <a:p>
            <a:pPr indent="-133336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i="1" sz="2400"/>
          </a:p>
          <a:p>
            <a:pPr indent="-133336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i="1" sz="2400"/>
          </a:p>
          <a:p>
            <a:pPr indent="-133336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sz="2400"/>
          </a:p>
          <a:p>
            <a:pPr indent="-133336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19" st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20" st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21" st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8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Single Threaded Prime Numbers</a:t>
            </a:r>
            <a:endParaRPr/>
          </a:p>
        </p:txBody>
      </p:sp>
      <p:sp>
        <p:nvSpPr>
          <p:cNvPr id="340" name="Google Shape;340;p28"/>
          <p:cNvSpPr txBox="1"/>
          <p:nvPr>
            <p:ph idx="1" type="body"/>
          </p:nvPr>
        </p:nvSpPr>
        <p:spPr>
          <a:xfrm>
            <a:off x="239350" y="1052737"/>
            <a:ext cx="11713301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lang="en-GB" sz="1800">
                <a:latin typeface="Courier New"/>
                <a:ea typeface="Courier New"/>
                <a:cs typeface="Courier New"/>
                <a:sym typeface="Courier New"/>
              </a:rPr>
              <a:t>#include &lt;stdio.h&gt;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lang="en-GB" sz="1800">
                <a:latin typeface="Courier New"/>
                <a:ea typeface="Courier New"/>
                <a:cs typeface="Courier New"/>
                <a:sym typeface="Courier New"/>
              </a:rPr>
              <a:t>void main()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lang="en-GB" sz="18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lang="en-GB" sz="1800">
                <a:latin typeface="Courier New"/>
                <a:ea typeface="Courier New"/>
                <a:cs typeface="Courier New"/>
                <a:sym typeface="Courier New"/>
              </a:rPr>
              <a:t>  int i, c;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lang="en-GB" sz="1800">
                <a:latin typeface="Courier New"/>
                <a:ea typeface="Courier New"/>
                <a:cs typeface="Courier New"/>
                <a:sym typeface="Courier New"/>
              </a:rPr>
              <a:t>  int nstart=1, nfinish=20000;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lang="en-GB" sz="1800">
                <a:latin typeface="Courier New"/>
                <a:ea typeface="Courier New"/>
                <a:cs typeface="Courier New"/>
                <a:sym typeface="Courier New"/>
              </a:rPr>
              <a:t>  printf("Prime numbers between %d and %d are :\n", nstart, nfinish);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lang="en-GB" sz="1800">
                <a:latin typeface="Courier New"/>
                <a:ea typeface="Courier New"/>
                <a:cs typeface="Courier New"/>
                <a:sym typeface="Courier New"/>
              </a:rPr>
              <a:t>  for(i=nstart; i&lt;=nfinish; i++){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lang="en-GB" sz="1800">
                <a:latin typeface="Courier New"/>
                <a:ea typeface="Courier New"/>
                <a:cs typeface="Courier New"/>
                <a:sym typeface="Courier New"/>
              </a:rPr>
              <a:t>    for(c = 2; c &lt;= i-1; c++){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lang="en-GB" sz="1800">
                <a:latin typeface="Courier New"/>
                <a:ea typeface="Courier New"/>
                <a:cs typeface="Courier New"/>
                <a:sym typeface="Courier New"/>
              </a:rPr>
              <a:t>      if ( i%c == 0 )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lang="en-GB" sz="1800">
                <a:latin typeface="Courier New"/>
                <a:ea typeface="Courier New"/>
                <a:cs typeface="Courier New"/>
                <a:sym typeface="Courier New"/>
              </a:rPr>
              <a:t>        break;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lang="en-GB" sz="1800"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lang="en-GB" sz="1800">
                <a:latin typeface="Courier New"/>
                <a:ea typeface="Courier New"/>
                <a:cs typeface="Courier New"/>
                <a:sym typeface="Courier New"/>
              </a:rPr>
              <a:t>    if ( c == i )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lang="en-GB" sz="1800">
                <a:latin typeface="Courier New"/>
                <a:ea typeface="Courier New"/>
                <a:cs typeface="Courier New"/>
                <a:sym typeface="Courier New"/>
              </a:rPr>
              <a:t>        printf("%d\n", i);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lang="en-GB" sz="1800"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1" lang="en-GB" sz="18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9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Multithreaded Version - 2 threads</a:t>
            </a:r>
            <a:endParaRPr/>
          </a:p>
        </p:txBody>
      </p:sp>
      <p:sp>
        <p:nvSpPr>
          <p:cNvPr id="346" name="Google Shape;346;p29"/>
          <p:cNvSpPr txBox="1"/>
          <p:nvPr>
            <p:ph idx="1" type="body"/>
          </p:nvPr>
        </p:nvSpPr>
        <p:spPr>
          <a:xfrm>
            <a:off x="1391478" y="1052737"/>
            <a:ext cx="6288698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GB"/>
              <a:t>#include &lt;stdio.h&gt;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GB"/>
              <a:t>#include &lt;pthread.h&gt;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GB"/>
              <a:t>void *threadOne(void *p){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GB"/>
              <a:t>  int i, c;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GB"/>
              <a:t>  int nstart=1, nfinish=10000;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GB"/>
              <a:t>for(i=nstart; i&lt;=nfinish; i++){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GB"/>
              <a:t>    for(c=2; c &lt;= i-1; c++){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GB"/>
              <a:t>      if ( i%c == 0 )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GB"/>
              <a:t>        break;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GB"/>
              <a:t>    }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GB"/>
              <a:t>    if ( c == i 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GB"/>
              <a:t>        printf("threadOne : %d\n", i);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GB"/>
              <a:t>  }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GB"/>
              <a:t>  return 0;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GB"/>
              <a:t>}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GB"/>
              <a:t>void main(){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GB"/>
              <a:t>  pthread_t thrID1, thrID2;</a:t>
            </a:r>
            <a:br>
              <a:rPr lang="en-GB"/>
            </a:br>
            <a:endParaRPr/>
          </a:p>
          <a:p>
            <a:pPr indent="0" lvl="0" marL="0" rtl="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GB"/>
              <a:t>  printf("threadOne : Prime numbers between %d and %d are :\n", nstart, nfinish);</a:t>
            </a:r>
            <a:br>
              <a:rPr lang="en-GB"/>
            </a:br>
            <a:r>
              <a:rPr lang="en-GB"/>
              <a:t>  pthread_create(&amp;thrID1, NULL, threadOne, NULL);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GB"/>
              <a:t>  pthread_create(&amp;thrID2, NULL, threadTwo, NULL);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GB"/>
              <a:t>  pthread_join(thrID1, NULL);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GB"/>
              <a:t>  pthread_join(thrID2, NULL);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GB"/>
              <a:t>}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347" name="Google Shape;347;p29"/>
          <p:cNvSpPr txBox="1"/>
          <p:nvPr/>
        </p:nvSpPr>
        <p:spPr>
          <a:xfrm>
            <a:off x="6600056" y="1196752"/>
            <a:ext cx="2736304" cy="3336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*threadTwo(void *p){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int i, c;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int nstart=10001, nfinish=20000;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for(i=nstart; i&lt;=nfinish; i++){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for(c=2; c&lt;=i-1; c++){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if ( i%c==0 )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if ( c==i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printf("threadTwo : %d\n", i);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return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0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Multithreaded Version - 2 threads using openMp</a:t>
            </a:r>
            <a:endParaRPr/>
          </a:p>
        </p:txBody>
      </p:sp>
      <p:sp>
        <p:nvSpPr>
          <p:cNvPr id="353" name="Google Shape;353;p30"/>
          <p:cNvSpPr txBox="1"/>
          <p:nvPr>
            <p:ph idx="1" type="body"/>
          </p:nvPr>
        </p:nvSpPr>
        <p:spPr>
          <a:xfrm>
            <a:off x="119336" y="1052736"/>
            <a:ext cx="4272474" cy="5328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GB"/>
              <a:t>#include &lt;stdio.h&gt;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GB"/>
              <a:t>#include &lt;omp.h&gt;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GB"/>
              <a:t>void </a:t>
            </a:r>
            <a:r>
              <a:rPr b="1" lang="en-GB"/>
              <a:t>threadOne()</a:t>
            </a:r>
            <a:r>
              <a:rPr lang="en-GB"/>
              <a:t>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GB"/>
              <a:t>    int i, c;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GB"/>
              <a:t>    int nstart = 1, nfinish = 10000;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1" lang="en-GB"/>
              <a:t>    #pragma omp parallel for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GB"/>
              <a:t>    for (i = nstart; i &lt;= nfinish; i++)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GB"/>
              <a:t>        for (c = 2; c &lt;= i - 1; c++)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GB"/>
              <a:t>            if (i % c == 0)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GB"/>
              <a:t>                break;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GB"/>
              <a:t>        }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GB"/>
              <a:t>        if (c == i)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GB"/>
              <a:t>            printf("threadOne : %d\n", i);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GB"/>
              <a:t>    }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GB"/>
              <a:t>}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354" name="Google Shape;354;p30"/>
          <p:cNvSpPr txBox="1"/>
          <p:nvPr/>
        </p:nvSpPr>
        <p:spPr>
          <a:xfrm>
            <a:off x="8719275" y="1160747"/>
            <a:ext cx="3312300" cy="55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main()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printf("Prime numbers between 1 and 20000 are:\n");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#pragma omp parallel sections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#pragma omp section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threadOne();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#pragma omp section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threadTwo();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return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0"/>
          <p:cNvSpPr txBox="1"/>
          <p:nvPr/>
        </p:nvSpPr>
        <p:spPr>
          <a:xfrm>
            <a:off x="4284143" y="1052735"/>
            <a:ext cx="4272474" cy="5328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</a:t>
            </a:r>
            <a:r>
              <a:rPr b="1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threadTwo() 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int i, c;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int nstart = 10001, nfinish = 20000;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1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#</a:t>
            </a:r>
            <a:r>
              <a:rPr b="1" i="0" lang="en-GB" sz="2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pragma</a:t>
            </a:r>
            <a:r>
              <a:rPr b="1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omp parallel for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for (i = nstart; i &lt;= nfinish; i++)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for (c = 2; c &lt;= i - 1; c++)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if (i % c == 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if (c == 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printf("threadTwo : %d\n", i);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56" name="Google Shape;356;p30"/>
          <p:cNvCxnSpPr/>
          <p:nvPr/>
        </p:nvCxnSpPr>
        <p:spPr>
          <a:xfrm>
            <a:off x="3935760" y="1052734"/>
            <a:ext cx="936104" cy="580526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" name="Google Shape;357;p30"/>
          <p:cNvCxnSpPr/>
          <p:nvPr/>
        </p:nvCxnSpPr>
        <p:spPr>
          <a:xfrm>
            <a:off x="7959078" y="1052734"/>
            <a:ext cx="936104" cy="580526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Calculating PI</a:t>
            </a:r>
            <a:endParaRPr/>
          </a:p>
        </p:txBody>
      </p:sp>
      <p:pic>
        <p:nvPicPr>
          <p:cNvPr id="363" name="Google Shape;36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8101" y="1053593"/>
            <a:ext cx="6287378" cy="5187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2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OpenMP PI</a:t>
            </a:r>
            <a:endParaRPr/>
          </a:p>
        </p:txBody>
      </p:sp>
      <p:pic>
        <p:nvPicPr>
          <p:cNvPr id="369" name="Google Shape;369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55840" y="1187049"/>
            <a:ext cx="6408600" cy="534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x Faster Calculation of Pi with just One Line of Code? | by Coderrect  Inc | Medium" id="370" name="Google Shape;37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7368" y="1196752"/>
            <a:ext cx="3312368" cy="5524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OpenMP PI Critical Section</a:t>
            </a:r>
            <a:endParaRPr/>
          </a:p>
        </p:txBody>
      </p:sp>
      <p:pic>
        <p:nvPicPr>
          <p:cNvPr id="376" name="Google Shape;376;p3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8101" y="1052736"/>
            <a:ext cx="6287378" cy="523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OpenMP PI Atomic Operation</a:t>
            </a:r>
            <a:endParaRPr/>
          </a:p>
        </p:txBody>
      </p:sp>
      <p:pic>
        <p:nvPicPr>
          <p:cNvPr id="382" name="Google Shape;382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8101" y="1052736"/>
            <a:ext cx="6287378" cy="523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OpenMP PI Reduction Operation</a:t>
            </a:r>
            <a:endParaRPr/>
          </a:p>
        </p:txBody>
      </p:sp>
      <p:pic>
        <p:nvPicPr>
          <p:cNvPr id="388" name="Google Shape;388;p3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5680" y="1052736"/>
            <a:ext cx="6800847" cy="523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6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Pthread Barrier</a:t>
            </a:r>
            <a:endParaRPr/>
          </a:p>
        </p:txBody>
      </p:sp>
      <p:pic>
        <p:nvPicPr>
          <p:cNvPr descr="Graphical user interface, text, application&#10;&#10;Description automatically generated" id="394" name="Google Shape;394;p3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1412776"/>
            <a:ext cx="12207928" cy="4536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7"/>
          <p:cNvSpPr txBox="1"/>
          <p:nvPr>
            <p:ph type="title"/>
          </p:nvPr>
        </p:nvSpPr>
        <p:spPr>
          <a:xfrm>
            <a:off x="3311690" y="188639"/>
            <a:ext cx="7063769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OpenMP Barrier</a:t>
            </a:r>
            <a:endParaRPr/>
          </a:p>
        </p:txBody>
      </p:sp>
      <p:pic>
        <p:nvPicPr>
          <p:cNvPr id="400" name="Google Shape;400;p3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1995" y="1021056"/>
            <a:ext cx="8388000" cy="576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8"/>
          <p:cNvSpPr txBox="1"/>
          <p:nvPr>
            <p:ph type="ctrTitle"/>
          </p:nvPr>
        </p:nvSpPr>
        <p:spPr>
          <a:xfrm>
            <a:off x="527381" y="2512922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End of Lecture 6</a:t>
            </a:r>
            <a:br>
              <a:rPr lang="en-GB"/>
            </a:br>
            <a:r>
              <a:rPr lang="en-GB"/>
              <a:t>		To be continued……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niversity Standard">
  <a:themeElements>
    <a:clrScheme name="uow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2020-10-20T01:36:00Z</dcterms:created>
</cp:coreProperties>
</file>